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64" r:id="rId4"/>
    <p:sldId id="258" r:id="rId5"/>
    <p:sldId id="259" r:id="rId6"/>
    <p:sldId id="260" r:id="rId7"/>
    <p:sldId id="266" r:id="rId8"/>
    <p:sldId id="263" r:id="rId9"/>
    <p:sldId id="261" r:id="rId10"/>
    <p:sldId id="267" r:id="rId11"/>
    <p:sldId id="268"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5D5AC-FCD9-47AA-B58E-2158DB7EA4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9FECB73-9559-4B09-9F29-2974A2F5EA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728F90-1742-46F8-AE77-7F3429F1957F}"/>
              </a:ext>
            </a:extLst>
          </p:cNvPr>
          <p:cNvSpPr>
            <a:spLocks noGrp="1"/>
          </p:cNvSpPr>
          <p:nvPr>
            <p:ph type="dt" sz="half" idx="10"/>
          </p:nvPr>
        </p:nvSpPr>
        <p:spPr/>
        <p:txBody>
          <a:bodyPr/>
          <a:lstStyle/>
          <a:p>
            <a:fld id="{98901B81-F904-4EBD-BFDF-A8A3225BB356}" type="datetimeFigureOut">
              <a:rPr lang="en-IN" smtClean="0"/>
              <a:t>09-04-2026</a:t>
            </a:fld>
            <a:endParaRPr lang="en-IN"/>
          </a:p>
        </p:txBody>
      </p:sp>
      <p:sp>
        <p:nvSpPr>
          <p:cNvPr id="5" name="Footer Placeholder 4">
            <a:extLst>
              <a:ext uri="{FF2B5EF4-FFF2-40B4-BE49-F238E27FC236}">
                <a16:creationId xmlns:a16="http://schemas.microsoft.com/office/drawing/2014/main" id="{9BF26B61-F3FD-4CA2-81B4-F03A397829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624ADE-F6A2-484D-8F64-FCD2318F67CB}"/>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3305406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1017-62C9-410B-B5F9-83FE1B9C47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100446-5918-4007-93C4-3FBA7E85C85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DB3877-C465-4A10-820B-04AA036AF4FA}"/>
              </a:ext>
            </a:extLst>
          </p:cNvPr>
          <p:cNvSpPr>
            <a:spLocks noGrp="1"/>
          </p:cNvSpPr>
          <p:nvPr>
            <p:ph type="dt" sz="half" idx="10"/>
          </p:nvPr>
        </p:nvSpPr>
        <p:spPr/>
        <p:txBody>
          <a:bodyPr/>
          <a:lstStyle/>
          <a:p>
            <a:fld id="{98901B81-F904-4EBD-BFDF-A8A3225BB356}" type="datetimeFigureOut">
              <a:rPr lang="en-IN" smtClean="0"/>
              <a:t>09-04-2026</a:t>
            </a:fld>
            <a:endParaRPr lang="en-IN"/>
          </a:p>
        </p:txBody>
      </p:sp>
      <p:sp>
        <p:nvSpPr>
          <p:cNvPr id="5" name="Footer Placeholder 4">
            <a:extLst>
              <a:ext uri="{FF2B5EF4-FFF2-40B4-BE49-F238E27FC236}">
                <a16:creationId xmlns:a16="http://schemas.microsoft.com/office/drawing/2014/main" id="{027C9552-E2F3-4033-86F9-43B40CA896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7217D6-EE40-4513-BDD2-DD7DB11FE3EC}"/>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593346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BA9BB-0CD5-4685-8345-B234D124DF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27344E-F9D6-429B-9947-81EE180DD0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82FFC5C-AB01-481E-A088-17CDA9E43D7E}"/>
              </a:ext>
            </a:extLst>
          </p:cNvPr>
          <p:cNvSpPr>
            <a:spLocks noGrp="1"/>
          </p:cNvSpPr>
          <p:nvPr>
            <p:ph type="dt" sz="half" idx="10"/>
          </p:nvPr>
        </p:nvSpPr>
        <p:spPr/>
        <p:txBody>
          <a:bodyPr/>
          <a:lstStyle/>
          <a:p>
            <a:fld id="{98901B81-F904-4EBD-BFDF-A8A3225BB356}" type="datetimeFigureOut">
              <a:rPr lang="en-IN" smtClean="0"/>
              <a:t>09-04-2026</a:t>
            </a:fld>
            <a:endParaRPr lang="en-IN"/>
          </a:p>
        </p:txBody>
      </p:sp>
      <p:sp>
        <p:nvSpPr>
          <p:cNvPr id="5" name="Footer Placeholder 4">
            <a:extLst>
              <a:ext uri="{FF2B5EF4-FFF2-40B4-BE49-F238E27FC236}">
                <a16:creationId xmlns:a16="http://schemas.microsoft.com/office/drawing/2014/main" id="{F32DE319-4FFB-4596-BF8D-03DEBEACDB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A36DCA-DEAF-478D-9F15-9AB95CC2E3AF}"/>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2211148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82DDE-C26D-4B19-AEDF-1B14C7861E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CEC104-454B-42D7-B93C-D2729E634B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C25ED9-ADC9-4782-A9DF-16293841AEC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1062A8-A6A1-402B-AD13-BD6F4B642DC3}"/>
              </a:ext>
            </a:extLst>
          </p:cNvPr>
          <p:cNvSpPr>
            <a:spLocks noGrp="1"/>
          </p:cNvSpPr>
          <p:nvPr>
            <p:ph type="dt" sz="half" idx="10"/>
          </p:nvPr>
        </p:nvSpPr>
        <p:spPr/>
        <p:txBody>
          <a:bodyPr/>
          <a:lstStyle/>
          <a:p>
            <a:fld id="{98901B81-F904-4EBD-BFDF-A8A3225BB356}" type="datetimeFigureOut">
              <a:rPr lang="en-IN" smtClean="0"/>
              <a:t>09-04-2026</a:t>
            </a:fld>
            <a:endParaRPr lang="en-IN"/>
          </a:p>
        </p:txBody>
      </p:sp>
      <p:sp>
        <p:nvSpPr>
          <p:cNvPr id="6" name="Footer Placeholder 5">
            <a:extLst>
              <a:ext uri="{FF2B5EF4-FFF2-40B4-BE49-F238E27FC236}">
                <a16:creationId xmlns:a16="http://schemas.microsoft.com/office/drawing/2014/main" id="{69FA434A-C66B-49B0-A771-A317304323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D83F75-4E8D-490A-9AFF-A5938B083E1D}"/>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1545470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A889-91A6-49C4-933A-E1256C38E01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F9D7BB-4E97-49CF-B786-79F8FA1556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C5C2BF1-18D6-4E02-A87B-CB8B50B212C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4FD9F4-4E53-4F58-9CC6-A722A56C6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576CF02-5B77-4659-81CC-AD2D8FA4F87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B339D76-DBF0-401E-8998-170848942255}"/>
              </a:ext>
            </a:extLst>
          </p:cNvPr>
          <p:cNvSpPr>
            <a:spLocks noGrp="1"/>
          </p:cNvSpPr>
          <p:nvPr>
            <p:ph type="dt" sz="half" idx="10"/>
          </p:nvPr>
        </p:nvSpPr>
        <p:spPr/>
        <p:txBody>
          <a:bodyPr/>
          <a:lstStyle/>
          <a:p>
            <a:fld id="{98901B81-F904-4EBD-BFDF-A8A3225BB356}" type="datetimeFigureOut">
              <a:rPr lang="en-IN" smtClean="0"/>
              <a:t>09-04-2026</a:t>
            </a:fld>
            <a:endParaRPr lang="en-IN"/>
          </a:p>
        </p:txBody>
      </p:sp>
      <p:sp>
        <p:nvSpPr>
          <p:cNvPr id="8" name="Footer Placeholder 7">
            <a:extLst>
              <a:ext uri="{FF2B5EF4-FFF2-40B4-BE49-F238E27FC236}">
                <a16:creationId xmlns:a16="http://schemas.microsoft.com/office/drawing/2014/main" id="{81930880-5E24-4022-B688-F0531EB4310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9E5EA23-0F77-449B-BF9B-C77EF9ABACE4}"/>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387122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F00FD-8BEC-4557-B459-8BFCD382EE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FFC0C9A-0F4E-4F09-A638-DD2FE6E28734}"/>
              </a:ext>
            </a:extLst>
          </p:cNvPr>
          <p:cNvSpPr>
            <a:spLocks noGrp="1"/>
          </p:cNvSpPr>
          <p:nvPr>
            <p:ph type="dt" sz="half" idx="10"/>
          </p:nvPr>
        </p:nvSpPr>
        <p:spPr/>
        <p:txBody>
          <a:bodyPr/>
          <a:lstStyle/>
          <a:p>
            <a:fld id="{98901B81-F904-4EBD-BFDF-A8A3225BB356}" type="datetimeFigureOut">
              <a:rPr lang="en-IN" smtClean="0"/>
              <a:t>09-04-2026</a:t>
            </a:fld>
            <a:endParaRPr lang="en-IN"/>
          </a:p>
        </p:txBody>
      </p:sp>
      <p:sp>
        <p:nvSpPr>
          <p:cNvPr id="4" name="Footer Placeholder 3">
            <a:extLst>
              <a:ext uri="{FF2B5EF4-FFF2-40B4-BE49-F238E27FC236}">
                <a16:creationId xmlns:a16="http://schemas.microsoft.com/office/drawing/2014/main" id="{D99D8E23-2FC7-4DFF-B557-7A230C206E7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94A9FB0-D60B-44BE-AAB5-6AAE1A071DC7}"/>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1295557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C42ADB-52DB-40DE-B144-5D5605447AF9}"/>
              </a:ext>
            </a:extLst>
          </p:cNvPr>
          <p:cNvSpPr>
            <a:spLocks noGrp="1"/>
          </p:cNvSpPr>
          <p:nvPr>
            <p:ph type="dt" sz="half" idx="10"/>
          </p:nvPr>
        </p:nvSpPr>
        <p:spPr/>
        <p:txBody>
          <a:bodyPr/>
          <a:lstStyle/>
          <a:p>
            <a:fld id="{98901B81-F904-4EBD-BFDF-A8A3225BB356}" type="datetimeFigureOut">
              <a:rPr lang="en-IN" smtClean="0"/>
              <a:t>09-04-2026</a:t>
            </a:fld>
            <a:endParaRPr lang="en-IN"/>
          </a:p>
        </p:txBody>
      </p:sp>
      <p:sp>
        <p:nvSpPr>
          <p:cNvPr id="3" name="Footer Placeholder 2">
            <a:extLst>
              <a:ext uri="{FF2B5EF4-FFF2-40B4-BE49-F238E27FC236}">
                <a16:creationId xmlns:a16="http://schemas.microsoft.com/office/drawing/2014/main" id="{E8BAA1AC-E1F1-486F-A351-939C7D53A4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26A5FB-E227-40A6-BB61-366D200E46CC}"/>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62604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57C8-47B6-4007-B389-C88C976A59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5E3ED1D-0CD5-4D8D-BD46-1BC61FA5B2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D6F791D-630C-44AD-A978-1F5C330CA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8777759-69AD-4DEE-8D1A-B705C2C7A4EF}"/>
              </a:ext>
            </a:extLst>
          </p:cNvPr>
          <p:cNvSpPr>
            <a:spLocks noGrp="1"/>
          </p:cNvSpPr>
          <p:nvPr>
            <p:ph type="dt" sz="half" idx="10"/>
          </p:nvPr>
        </p:nvSpPr>
        <p:spPr/>
        <p:txBody>
          <a:bodyPr/>
          <a:lstStyle/>
          <a:p>
            <a:fld id="{98901B81-F904-4EBD-BFDF-A8A3225BB356}" type="datetimeFigureOut">
              <a:rPr lang="en-IN" smtClean="0"/>
              <a:t>09-04-2026</a:t>
            </a:fld>
            <a:endParaRPr lang="en-IN"/>
          </a:p>
        </p:txBody>
      </p:sp>
      <p:sp>
        <p:nvSpPr>
          <p:cNvPr id="6" name="Footer Placeholder 5">
            <a:extLst>
              <a:ext uri="{FF2B5EF4-FFF2-40B4-BE49-F238E27FC236}">
                <a16:creationId xmlns:a16="http://schemas.microsoft.com/office/drawing/2014/main" id="{C25BEA58-534C-4090-B3E8-D6118FDD1D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8E5E79-30B6-4B85-9DD5-8381AFF6AACE}"/>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3412559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B302D-AD68-467B-B17D-A2595082C0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713098-732A-4AB6-84B4-07FC7C2508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0C7FF50-BDB3-4880-9813-473CF32250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438EC6-C736-40BD-B11F-96688F7CB4F5}"/>
              </a:ext>
            </a:extLst>
          </p:cNvPr>
          <p:cNvSpPr>
            <a:spLocks noGrp="1"/>
          </p:cNvSpPr>
          <p:nvPr>
            <p:ph type="dt" sz="half" idx="10"/>
          </p:nvPr>
        </p:nvSpPr>
        <p:spPr/>
        <p:txBody>
          <a:bodyPr/>
          <a:lstStyle/>
          <a:p>
            <a:fld id="{98901B81-F904-4EBD-BFDF-A8A3225BB356}" type="datetimeFigureOut">
              <a:rPr lang="en-IN" smtClean="0"/>
              <a:t>09-04-2026</a:t>
            </a:fld>
            <a:endParaRPr lang="en-IN"/>
          </a:p>
        </p:txBody>
      </p:sp>
      <p:sp>
        <p:nvSpPr>
          <p:cNvPr id="6" name="Footer Placeholder 5">
            <a:extLst>
              <a:ext uri="{FF2B5EF4-FFF2-40B4-BE49-F238E27FC236}">
                <a16:creationId xmlns:a16="http://schemas.microsoft.com/office/drawing/2014/main" id="{42738B23-50D2-46E7-8C79-A6C231CC26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6A9DCA-3C09-43BF-BA69-4CB520E640AD}"/>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2547184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5C7E1-5C6F-4EE9-8B83-6F022B0D8F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875C7C-2515-4B5D-AF2B-7ECAC2A5281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A20571-F187-492F-BFCF-806AE76CFBB4}"/>
              </a:ext>
            </a:extLst>
          </p:cNvPr>
          <p:cNvSpPr>
            <a:spLocks noGrp="1"/>
          </p:cNvSpPr>
          <p:nvPr>
            <p:ph type="dt" sz="half" idx="10"/>
          </p:nvPr>
        </p:nvSpPr>
        <p:spPr/>
        <p:txBody>
          <a:bodyPr/>
          <a:lstStyle/>
          <a:p>
            <a:fld id="{98901B81-F904-4EBD-BFDF-A8A3225BB356}" type="datetimeFigureOut">
              <a:rPr lang="en-IN" smtClean="0"/>
              <a:t>09-04-2026</a:t>
            </a:fld>
            <a:endParaRPr lang="en-IN"/>
          </a:p>
        </p:txBody>
      </p:sp>
      <p:sp>
        <p:nvSpPr>
          <p:cNvPr id="5" name="Footer Placeholder 4">
            <a:extLst>
              <a:ext uri="{FF2B5EF4-FFF2-40B4-BE49-F238E27FC236}">
                <a16:creationId xmlns:a16="http://schemas.microsoft.com/office/drawing/2014/main" id="{45F2B5B0-4C62-4FAA-B646-7B7C938719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0AD030-007B-4252-A74B-61E04ABE1EDB}"/>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3213172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4BD0A6-6078-482A-9C9D-CCA6F1D779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FEE287-9FFD-4995-BE69-A223A702DF3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737F6F-99B9-4BFB-9032-3258953A280B}"/>
              </a:ext>
            </a:extLst>
          </p:cNvPr>
          <p:cNvSpPr>
            <a:spLocks noGrp="1"/>
          </p:cNvSpPr>
          <p:nvPr>
            <p:ph type="dt" sz="half" idx="10"/>
          </p:nvPr>
        </p:nvSpPr>
        <p:spPr/>
        <p:txBody>
          <a:bodyPr/>
          <a:lstStyle/>
          <a:p>
            <a:fld id="{98901B81-F904-4EBD-BFDF-A8A3225BB356}" type="datetimeFigureOut">
              <a:rPr lang="en-IN" smtClean="0"/>
              <a:t>09-04-2026</a:t>
            </a:fld>
            <a:endParaRPr lang="en-IN"/>
          </a:p>
        </p:txBody>
      </p:sp>
      <p:sp>
        <p:nvSpPr>
          <p:cNvPr id="5" name="Footer Placeholder 4">
            <a:extLst>
              <a:ext uri="{FF2B5EF4-FFF2-40B4-BE49-F238E27FC236}">
                <a16:creationId xmlns:a16="http://schemas.microsoft.com/office/drawing/2014/main" id="{4DA4F9A4-07F2-48E5-93D0-B01B9ECECF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5F1D20-0745-474D-B384-747034A09E0C}"/>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1998199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0C4C02-9C46-41A7-B6B3-79887B7AB7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0CF0F9-06AD-4C2C-BFB9-5C6F362751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EC3735-497E-425E-9448-B2B6D9D717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901B81-F904-4EBD-BFDF-A8A3225BB356}" type="datetimeFigureOut">
              <a:rPr lang="en-IN" smtClean="0"/>
              <a:t>09-04-2026</a:t>
            </a:fld>
            <a:endParaRPr lang="en-IN"/>
          </a:p>
        </p:txBody>
      </p:sp>
      <p:sp>
        <p:nvSpPr>
          <p:cNvPr id="5" name="Footer Placeholder 4">
            <a:extLst>
              <a:ext uri="{FF2B5EF4-FFF2-40B4-BE49-F238E27FC236}">
                <a16:creationId xmlns:a16="http://schemas.microsoft.com/office/drawing/2014/main" id="{931E03BC-63F5-4DE8-B08E-E7AB13E448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A808C21-FC93-4FE9-8341-631A688633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7213C-893A-4DC5-8E62-A0F6CFA922ED}" type="slidenum">
              <a:rPr lang="en-IN" smtClean="0"/>
              <a:t>‹#›</a:t>
            </a:fld>
            <a:endParaRPr lang="en-IN"/>
          </a:p>
        </p:txBody>
      </p:sp>
    </p:spTree>
    <p:extLst>
      <p:ext uri="{BB962C8B-B14F-4D97-AF65-F5344CB8AC3E}">
        <p14:creationId xmlns:p14="http://schemas.microsoft.com/office/powerpoint/2010/main" val="217814255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8895440-8671-4B40-9CB1-3F77E1FB2BE4}"/>
              </a:ext>
            </a:extLst>
          </p:cNvPr>
          <p:cNvSpPr/>
          <p:nvPr/>
        </p:nvSpPr>
        <p:spPr>
          <a:xfrm>
            <a:off x="386499" y="1399586"/>
            <a:ext cx="11293311" cy="707886"/>
          </a:xfrm>
          <a:prstGeom prst="rect">
            <a:avLst/>
          </a:prstGeom>
        </p:spPr>
        <p:txBody>
          <a:bodyPr wrap="square">
            <a:spAutoFit/>
          </a:bodyPr>
          <a:lstStyle/>
          <a:p>
            <a:pPr algn="ctr"/>
            <a:r>
              <a:rPr lang="en-US" sz="4000" dirty="0"/>
              <a:t>Agentic AI Autonomous Automation Systems</a:t>
            </a:r>
            <a:endParaRPr lang="en-IN" sz="4000" dirty="0"/>
          </a:p>
        </p:txBody>
      </p:sp>
    </p:spTree>
    <p:extLst>
      <p:ext uri="{BB962C8B-B14F-4D97-AF65-F5344CB8AC3E}">
        <p14:creationId xmlns:p14="http://schemas.microsoft.com/office/powerpoint/2010/main" val="4166421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2650A-9A03-43B5-9D21-E953F6771E11}"/>
              </a:ext>
            </a:extLst>
          </p:cNvPr>
          <p:cNvSpPr>
            <a:spLocks noGrp="1"/>
          </p:cNvSpPr>
          <p:nvPr>
            <p:ph type="title"/>
          </p:nvPr>
        </p:nvSpPr>
        <p:spPr>
          <a:xfrm>
            <a:off x="838200" y="365127"/>
            <a:ext cx="10515600" cy="615263"/>
          </a:xfrm>
        </p:spPr>
        <p:txBody>
          <a:bodyPr>
            <a:normAutofit/>
          </a:bodyPr>
          <a:lstStyle/>
          <a:p>
            <a:r>
              <a:rPr lang="en-US" sz="2800" b="1" dirty="0"/>
              <a:t>Paradigm Shift in Artificial Intelligence Architecture</a:t>
            </a:r>
            <a:endParaRPr lang="en-IN" sz="2800" b="1" dirty="0"/>
          </a:p>
        </p:txBody>
      </p:sp>
      <p:sp>
        <p:nvSpPr>
          <p:cNvPr id="3" name="Content Placeholder 2">
            <a:extLst>
              <a:ext uri="{FF2B5EF4-FFF2-40B4-BE49-F238E27FC236}">
                <a16:creationId xmlns:a16="http://schemas.microsoft.com/office/drawing/2014/main" id="{19C18833-D0B4-43D7-AE56-A39DAFACFC4E}"/>
              </a:ext>
            </a:extLst>
          </p:cNvPr>
          <p:cNvSpPr>
            <a:spLocks noGrp="1"/>
          </p:cNvSpPr>
          <p:nvPr>
            <p:ph idx="1"/>
          </p:nvPr>
        </p:nvSpPr>
        <p:spPr>
          <a:xfrm>
            <a:off x="838200" y="1357459"/>
            <a:ext cx="10515600" cy="5234283"/>
          </a:xfrm>
        </p:spPr>
        <p:txBody>
          <a:bodyPr>
            <a:normAutofit/>
          </a:bodyPr>
          <a:lstStyle/>
          <a:p>
            <a:pPr marL="0" indent="0">
              <a:lnSpc>
                <a:spcPct val="100000"/>
              </a:lnSpc>
              <a:buNone/>
            </a:pPr>
            <a:r>
              <a:rPr lang="en-US" sz="2000" b="1" dirty="0"/>
              <a:t>Theoretical Framework and Evolution</a:t>
            </a:r>
          </a:p>
          <a:p>
            <a:pPr marL="0" indent="0">
              <a:lnSpc>
                <a:spcPct val="100000"/>
              </a:lnSpc>
              <a:buNone/>
            </a:pPr>
            <a:r>
              <a:rPr lang="en-US" sz="1800" dirty="0"/>
              <a:t>Generative AI has really changed the way the architects build AI systems. Instead of sticking with one huge model that tries to do everything, automation architects now use teams of specialized agents that work together to solve tough problems.</a:t>
            </a:r>
          </a:p>
          <a:p>
            <a:pPr marL="0" indent="0">
              <a:lnSpc>
                <a:spcPct val="100000"/>
              </a:lnSpc>
              <a:buNone/>
            </a:pPr>
            <a:r>
              <a:rPr lang="en-US" sz="1800" b="1" dirty="0"/>
              <a:t>Key Contributions:</a:t>
            </a:r>
          </a:p>
          <a:p>
            <a:pPr>
              <a:lnSpc>
                <a:spcPct val="100000"/>
              </a:lnSpc>
            </a:pPr>
            <a:r>
              <a:rPr lang="en-US" sz="1800" b="1" dirty="0"/>
              <a:t>Large Language Models (LLMs)</a:t>
            </a:r>
            <a:r>
              <a:rPr lang="en-US" sz="1800" dirty="0"/>
              <a:t>: Think of LLMs as the brains behind the system. They handle language, generate code, and summarize information. </a:t>
            </a:r>
          </a:p>
          <a:p>
            <a:pPr>
              <a:lnSpc>
                <a:spcPct val="100000"/>
              </a:lnSpc>
            </a:pPr>
            <a:r>
              <a:rPr lang="en-US" sz="1800" b="1" dirty="0"/>
              <a:t>Agentic Augmentation: </a:t>
            </a:r>
            <a:r>
              <a:rPr lang="en-US" sz="1800" dirty="0"/>
              <a:t>AI agents push LLMs even further. By connecting with tools and outside systems, agents break out of simple chat-style interactions and get more things done.</a:t>
            </a:r>
          </a:p>
          <a:p>
            <a:pPr>
              <a:lnSpc>
                <a:spcPct val="100000"/>
              </a:lnSpc>
            </a:pPr>
            <a:r>
              <a:rPr lang="en-US" sz="1800" b="1" dirty="0"/>
              <a:t>Real-World Task Execution: </a:t>
            </a:r>
            <a:r>
              <a:rPr lang="en-US" sz="1800" dirty="0"/>
              <a:t>These agents make automation real. They report bugs, create test cases on their own, and convert scripts without human intervention.</a:t>
            </a:r>
          </a:p>
          <a:p>
            <a:pPr>
              <a:lnSpc>
                <a:spcPct val="100000"/>
              </a:lnSpc>
            </a:pPr>
            <a:r>
              <a:rPr lang="en-US" sz="1800" b="1" dirty="0"/>
              <a:t>Collaborative Intelligence Framework: </a:t>
            </a:r>
            <a:r>
              <a:rPr lang="en-US" sz="1800" dirty="0"/>
              <a:t>With this multi-agent setup, automation is not just talk. Intelligent agents share work, coordinate, and make entire workflows more efficient. </a:t>
            </a:r>
            <a:endParaRPr lang="en-IN" sz="1800" dirty="0"/>
          </a:p>
        </p:txBody>
      </p:sp>
    </p:spTree>
    <p:extLst>
      <p:ext uri="{BB962C8B-B14F-4D97-AF65-F5344CB8AC3E}">
        <p14:creationId xmlns:p14="http://schemas.microsoft.com/office/powerpoint/2010/main" val="3085413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A8018FE-1F89-431D-8C74-158843F2A021}"/>
              </a:ext>
            </a:extLst>
          </p:cNvPr>
          <p:cNvSpPr/>
          <p:nvPr/>
        </p:nvSpPr>
        <p:spPr>
          <a:xfrm>
            <a:off x="4668626" y="862701"/>
            <a:ext cx="2384981" cy="12858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LLM</a:t>
            </a:r>
            <a:endParaRPr lang="en-IN" dirty="0">
              <a:solidFill>
                <a:schemeClr val="tx1"/>
              </a:solidFill>
            </a:endParaRPr>
          </a:p>
        </p:txBody>
      </p:sp>
      <p:sp>
        <p:nvSpPr>
          <p:cNvPr id="6" name="Rectangle: Rounded Corners 5">
            <a:extLst>
              <a:ext uri="{FF2B5EF4-FFF2-40B4-BE49-F238E27FC236}">
                <a16:creationId xmlns:a16="http://schemas.microsoft.com/office/drawing/2014/main" id="{CA294469-DDCF-485D-AA1E-87A1A35E0637}"/>
              </a:ext>
            </a:extLst>
          </p:cNvPr>
          <p:cNvSpPr/>
          <p:nvPr/>
        </p:nvSpPr>
        <p:spPr>
          <a:xfrm>
            <a:off x="728150" y="3361572"/>
            <a:ext cx="1762812" cy="933253"/>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Playwright MCP</a:t>
            </a:r>
            <a:endParaRPr lang="en-IN" dirty="0">
              <a:solidFill>
                <a:schemeClr val="tx1"/>
              </a:solidFill>
            </a:endParaRPr>
          </a:p>
        </p:txBody>
      </p:sp>
      <p:sp>
        <p:nvSpPr>
          <p:cNvPr id="7" name="Rectangle: Rounded Corners 6">
            <a:extLst>
              <a:ext uri="{FF2B5EF4-FFF2-40B4-BE49-F238E27FC236}">
                <a16:creationId xmlns:a16="http://schemas.microsoft.com/office/drawing/2014/main" id="{B952697D-C0C3-4994-82DD-6D9ED66BA99C}"/>
              </a:ext>
            </a:extLst>
          </p:cNvPr>
          <p:cNvSpPr/>
          <p:nvPr/>
        </p:nvSpPr>
        <p:spPr>
          <a:xfrm>
            <a:off x="2905867" y="3361572"/>
            <a:ext cx="1762812" cy="933253"/>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MySQL MCP</a:t>
            </a:r>
            <a:endParaRPr lang="en-IN" dirty="0">
              <a:solidFill>
                <a:schemeClr val="tx1"/>
              </a:solidFill>
            </a:endParaRPr>
          </a:p>
        </p:txBody>
      </p:sp>
      <p:sp>
        <p:nvSpPr>
          <p:cNvPr id="8" name="Rectangle: Rounded Corners 7">
            <a:extLst>
              <a:ext uri="{FF2B5EF4-FFF2-40B4-BE49-F238E27FC236}">
                <a16:creationId xmlns:a16="http://schemas.microsoft.com/office/drawing/2014/main" id="{09939775-8128-405A-BC62-4A8408667C9C}"/>
              </a:ext>
            </a:extLst>
          </p:cNvPr>
          <p:cNvSpPr/>
          <p:nvPr/>
        </p:nvSpPr>
        <p:spPr>
          <a:xfrm>
            <a:off x="5083584" y="3361572"/>
            <a:ext cx="1762812" cy="933253"/>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Rest API MCP</a:t>
            </a:r>
            <a:endParaRPr lang="en-IN" dirty="0">
              <a:solidFill>
                <a:schemeClr val="tx1"/>
              </a:solidFill>
            </a:endParaRPr>
          </a:p>
        </p:txBody>
      </p:sp>
      <p:sp>
        <p:nvSpPr>
          <p:cNvPr id="9" name="Rectangle: Rounded Corners 8">
            <a:extLst>
              <a:ext uri="{FF2B5EF4-FFF2-40B4-BE49-F238E27FC236}">
                <a16:creationId xmlns:a16="http://schemas.microsoft.com/office/drawing/2014/main" id="{9A4E85D1-8EFB-40F8-A914-6431F362C160}"/>
              </a:ext>
            </a:extLst>
          </p:cNvPr>
          <p:cNvSpPr/>
          <p:nvPr/>
        </p:nvSpPr>
        <p:spPr>
          <a:xfrm>
            <a:off x="7100880" y="3361572"/>
            <a:ext cx="1762812" cy="933253"/>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File System MCP</a:t>
            </a:r>
            <a:endParaRPr lang="en-IN" dirty="0">
              <a:solidFill>
                <a:schemeClr val="tx1"/>
              </a:solidFill>
            </a:endParaRPr>
          </a:p>
        </p:txBody>
      </p:sp>
      <p:sp>
        <p:nvSpPr>
          <p:cNvPr id="10" name="Rectangle: Rounded Corners 9">
            <a:extLst>
              <a:ext uri="{FF2B5EF4-FFF2-40B4-BE49-F238E27FC236}">
                <a16:creationId xmlns:a16="http://schemas.microsoft.com/office/drawing/2014/main" id="{7CC0F7BA-741E-40F4-A9F7-1B15E6A0FA9D}"/>
              </a:ext>
            </a:extLst>
          </p:cNvPr>
          <p:cNvSpPr/>
          <p:nvPr/>
        </p:nvSpPr>
        <p:spPr>
          <a:xfrm>
            <a:off x="9326720" y="3361569"/>
            <a:ext cx="1762812" cy="933253"/>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Excel MCP</a:t>
            </a:r>
            <a:endParaRPr lang="en-IN" dirty="0">
              <a:solidFill>
                <a:schemeClr val="tx1"/>
              </a:solidFill>
            </a:endParaRPr>
          </a:p>
        </p:txBody>
      </p:sp>
      <p:sp>
        <p:nvSpPr>
          <p:cNvPr id="11" name="Rectangle: Rounded Corners 10">
            <a:extLst>
              <a:ext uri="{FF2B5EF4-FFF2-40B4-BE49-F238E27FC236}">
                <a16:creationId xmlns:a16="http://schemas.microsoft.com/office/drawing/2014/main" id="{CA6B0807-0D3D-437F-BA95-78F8068C06C5}"/>
              </a:ext>
            </a:extLst>
          </p:cNvPr>
          <p:cNvSpPr/>
          <p:nvPr/>
        </p:nvSpPr>
        <p:spPr>
          <a:xfrm>
            <a:off x="728150" y="5515236"/>
            <a:ext cx="1762812" cy="933253"/>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Browser</a:t>
            </a:r>
            <a:endParaRPr lang="en-IN" dirty="0">
              <a:solidFill>
                <a:schemeClr val="tx1"/>
              </a:solidFill>
            </a:endParaRPr>
          </a:p>
        </p:txBody>
      </p:sp>
      <p:sp>
        <p:nvSpPr>
          <p:cNvPr id="12" name="Rectangle: Rounded Corners 11">
            <a:extLst>
              <a:ext uri="{FF2B5EF4-FFF2-40B4-BE49-F238E27FC236}">
                <a16:creationId xmlns:a16="http://schemas.microsoft.com/office/drawing/2014/main" id="{E95CA4F3-1551-4F49-9D48-F9F957DA7CA7}"/>
              </a:ext>
            </a:extLst>
          </p:cNvPr>
          <p:cNvSpPr/>
          <p:nvPr/>
        </p:nvSpPr>
        <p:spPr>
          <a:xfrm>
            <a:off x="2885813" y="5475130"/>
            <a:ext cx="1762812" cy="933253"/>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Database</a:t>
            </a:r>
            <a:endParaRPr lang="en-IN" dirty="0">
              <a:solidFill>
                <a:schemeClr val="tx1"/>
              </a:solidFill>
            </a:endParaRPr>
          </a:p>
        </p:txBody>
      </p:sp>
      <p:sp>
        <p:nvSpPr>
          <p:cNvPr id="13" name="Rectangle: Rounded Corners 12">
            <a:extLst>
              <a:ext uri="{FF2B5EF4-FFF2-40B4-BE49-F238E27FC236}">
                <a16:creationId xmlns:a16="http://schemas.microsoft.com/office/drawing/2014/main" id="{85394294-E168-46C9-BAAA-459F5D18D5F0}"/>
              </a:ext>
            </a:extLst>
          </p:cNvPr>
          <p:cNvSpPr/>
          <p:nvPr/>
        </p:nvSpPr>
        <p:spPr>
          <a:xfrm>
            <a:off x="5043475" y="5475128"/>
            <a:ext cx="1762812" cy="933253"/>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External APIs</a:t>
            </a:r>
            <a:endParaRPr lang="en-IN" dirty="0">
              <a:solidFill>
                <a:schemeClr val="tx1"/>
              </a:solidFill>
            </a:endParaRPr>
          </a:p>
        </p:txBody>
      </p:sp>
      <p:sp>
        <p:nvSpPr>
          <p:cNvPr id="14" name="Rectangle: Rounded Corners 13">
            <a:extLst>
              <a:ext uri="{FF2B5EF4-FFF2-40B4-BE49-F238E27FC236}">
                <a16:creationId xmlns:a16="http://schemas.microsoft.com/office/drawing/2014/main" id="{21468F69-5C15-44BD-9CBA-0D888C888435}"/>
              </a:ext>
            </a:extLst>
          </p:cNvPr>
          <p:cNvSpPr/>
          <p:nvPr/>
        </p:nvSpPr>
        <p:spPr>
          <a:xfrm>
            <a:off x="7096867" y="5475128"/>
            <a:ext cx="1762812" cy="933253"/>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File System</a:t>
            </a:r>
            <a:endParaRPr lang="en-IN" dirty="0">
              <a:solidFill>
                <a:schemeClr val="tx1"/>
              </a:solidFill>
            </a:endParaRPr>
          </a:p>
        </p:txBody>
      </p:sp>
      <p:sp>
        <p:nvSpPr>
          <p:cNvPr id="15" name="Rectangle: Rounded Corners 14">
            <a:extLst>
              <a:ext uri="{FF2B5EF4-FFF2-40B4-BE49-F238E27FC236}">
                <a16:creationId xmlns:a16="http://schemas.microsoft.com/office/drawing/2014/main" id="{4DB95C77-D663-40AB-A823-55AB01C83327}"/>
              </a:ext>
            </a:extLst>
          </p:cNvPr>
          <p:cNvSpPr/>
          <p:nvPr/>
        </p:nvSpPr>
        <p:spPr>
          <a:xfrm>
            <a:off x="9326720" y="5475127"/>
            <a:ext cx="1762812" cy="933253"/>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Excel Files</a:t>
            </a:r>
            <a:endParaRPr lang="en-IN" dirty="0">
              <a:solidFill>
                <a:schemeClr val="tx1"/>
              </a:solidFill>
            </a:endParaRPr>
          </a:p>
        </p:txBody>
      </p:sp>
      <p:sp>
        <p:nvSpPr>
          <p:cNvPr id="16" name="Rectangle: Rounded Corners 15">
            <a:extLst>
              <a:ext uri="{FF2B5EF4-FFF2-40B4-BE49-F238E27FC236}">
                <a16:creationId xmlns:a16="http://schemas.microsoft.com/office/drawing/2014/main" id="{A2BC8A80-644D-4E41-9AA7-A13CF6406E8F}"/>
              </a:ext>
            </a:extLst>
          </p:cNvPr>
          <p:cNvSpPr/>
          <p:nvPr/>
        </p:nvSpPr>
        <p:spPr>
          <a:xfrm>
            <a:off x="8759819" y="1272957"/>
            <a:ext cx="1762812" cy="933253"/>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MCP Configuration</a:t>
            </a:r>
          </a:p>
          <a:p>
            <a:pPr algn="ctr"/>
            <a:r>
              <a:rPr lang="en-US" dirty="0">
                <a:solidFill>
                  <a:schemeClr val="tx1"/>
                </a:solidFill>
              </a:rPr>
              <a:t>(JSON file)</a:t>
            </a:r>
            <a:endParaRPr lang="en-IN" dirty="0">
              <a:solidFill>
                <a:schemeClr val="tx1"/>
              </a:solidFill>
            </a:endParaRPr>
          </a:p>
        </p:txBody>
      </p:sp>
      <p:cxnSp>
        <p:nvCxnSpPr>
          <p:cNvPr id="18" name="Straight Connector 17">
            <a:extLst>
              <a:ext uri="{FF2B5EF4-FFF2-40B4-BE49-F238E27FC236}">
                <a16:creationId xmlns:a16="http://schemas.microsoft.com/office/drawing/2014/main" id="{A7AE5D0F-ECE5-4832-B16D-7B0F8030E303}"/>
              </a:ext>
            </a:extLst>
          </p:cNvPr>
          <p:cNvCxnSpPr>
            <a:cxnSpLocks/>
            <a:stCxn id="4" idx="2"/>
            <a:endCxn id="9" idx="0"/>
          </p:cNvCxnSpPr>
          <p:nvPr/>
        </p:nvCxnSpPr>
        <p:spPr>
          <a:xfrm>
            <a:off x="5861117" y="2148516"/>
            <a:ext cx="2121169" cy="12130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878EDD-FA49-4D7D-A493-1C2C9EC41A12}"/>
              </a:ext>
            </a:extLst>
          </p:cNvPr>
          <p:cNvCxnSpPr>
            <a:stCxn id="4" idx="2"/>
            <a:endCxn id="6" idx="0"/>
          </p:cNvCxnSpPr>
          <p:nvPr/>
        </p:nvCxnSpPr>
        <p:spPr>
          <a:xfrm flipH="1">
            <a:off x="1609556" y="2148516"/>
            <a:ext cx="4251561" cy="12130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D8BDDD2-B9A5-4BB2-B6A0-07B050ACB40D}"/>
              </a:ext>
            </a:extLst>
          </p:cNvPr>
          <p:cNvCxnSpPr>
            <a:stCxn id="4" idx="2"/>
            <a:endCxn id="7" idx="0"/>
          </p:cNvCxnSpPr>
          <p:nvPr/>
        </p:nvCxnSpPr>
        <p:spPr>
          <a:xfrm flipH="1">
            <a:off x="3787273" y="2148516"/>
            <a:ext cx="2073844" cy="12130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F96FEF9-3282-4435-AE16-13F86DBA8648}"/>
              </a:ext>
            </a:extLst>
          </p:cNvPr>
          <p:cNvCxnSpPr>
            <a:stCxn id="4" idx="2"/>
            <a:endCxn id="8" idx="0"/>
          </p:cNvCxnSpPr>
          <p:nvPr/>
        </p:nvCxnSpPr>
        <p:spPr>
          <a:xfrm>
            <a:off x="5861117" y="2148516"/>
            <a:ext cx="103873" cy="12130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DB19626-B064-45DC-BF1F-C73CCAC52A75}"/>
              </a:ext>
            </a:extLst>
          </p:cNvPr>
          <p:cNvCxnSpPr>
            <a:stCxn id="4" idx="2"/>
            <a:endCxn id="10" idx="0"/>
          </p:cNvCxnSpPr>
          <p:nvPr/>
        </p:nvCxnSpPr>
        <p:spPr>
          <a:xfrm>
            <a:off x="5861117" y="2148516"/>
            <a:ext cx="4347009" cy="121305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3BDE525-31BE-4502-AF6B-CCF0CDC197B1}"/>
              </a:ext>
            </a:extLst>
          </p:cNvPr>
          <p:cNvCxnSpPr>
            <a:stCxn id="4" idx="3"/>
            <a:endCxn id="16" idx="1"/>
          </p:cNvCxnSpPr>
          <p:nvPr/>
        </p:nvCxnSpPr>
        <p:spPr>
          <a:xfrm>
            <a:off x="7053607" y="1505609"/>
            <a:ext cx="1706212" cy="23397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A7E5639-E081-408D-B7A4-EC5B15EA3C1F}"/>
              </a:ext>
            </a:extLst>
          </p:cNvPr>
          <p:cNvCxnSpPr>
            <a:stCxn id="6" idx="2"/>
            <a:endCxn id="11" idx="0"/>
          </p:cNvCxnSpPr>
          <p:nvPr/>
        </p:nvCxnSpPr>
        <p:spPr>
          <a:xfrm>
            <a:off x="1609556" y="4294825"/>
            <a:ext cx="0" cy="122041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45C3CC-7278-4CA3-8A96-D274A9149957}"/>
              </a:ext>
            </a:extLst>
          </p:cNvPr>
          <p:cNvCxnSpPr>
            <a:stCxn id="7" idx="2"/>
            <a:endCxn id="12" idx="0"/>
          </p:cNvCxnSpPr>
          <p:nvPr/>
        </p:nvCxnSpPr>
        <p:spPr>
          <a:xfrm flipH="1">
            <a:off x="3767219" y="4294825"/>
            <a:ext cx="20054" cy="118030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ADD8F3C-1F15-4B28-AE5F-C6CD227EFC7F}"/>
              </a:ext>
            </a:extLst>
          </p:cNvPr>
          <p:cNvCxnSpPr>
            <a:stCxn id="8" idx="2"/>
            <a:endCxn id="13" idx="0"/>
          </p:cNvCxnSpPr>
          <p:nvPr/>
        </p:nvCxnSpPr>
        <p:spPr>
          <a:xfrm flipH="1">
            <a:off x="5924881" y="4294825"/>
            <a:ext cx="40109" cy="118030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F031929-4B2C-4F68-BC52-54D6F624656B}"/>
              </a:ext>
            </a:extLst>
          </p:cNvPr>
          <p:cNvCxnSpPr>
            <a:stCxn id="9" idx="2"/>
            <a:endCxn id="14" idx="0"/>
          </p:cNvCxnSpPr>
          <p:nvPr/>
        </p:nvCxnSpPr>
        <p:spPr>
          <a:xfrm flipH="1">
            <a:off x="7978273" y="4294825"/>
            <a:ext cx="4013" cy="118030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DFC78BC-5481-4216-8D94-8CD1F28EEA19}"/>
              </a:ext>
            </a:extLst>
          </p:cNvPr>
          <p:cNvCxnSpPr>
            <a:stCxn id="10" idx="2"/>
            <a:endCxn id="15" idx="0"/>
          </p:cNvCxnSpPr>
          <p:nvPr/>
        </p:nvCxnSpPr>
        <p:spPr>
          <a:xfrm>
            <a:off x="10208126" y="4294822"/>
            <a:ext cx="0" cy="118030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2605201-5DEE-4492-9156-C6BA7C2EBF82}"/>
              </a:ext>
            </a:extLst>
          </p:cNvPr>
          <p:cNvCxnSpPr>
            <a:cxnSpLocks/>
          </p:cNvCxnSpPr>
          <p:nvPr/>
        </p:nvCxnSpPr>
        <p:spPr>
          <a:xfrm>
            <a:off x="287047" y="2790227"/>
            <a:ext cx="11713275" cy="0"/>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8373D82-62EE-4AC2-A7DE-439B98A31F1B}"/>
              </a:ext>
            </a:extLst>
          </p:cNvPr>
          <p:cNvCxnSpPr>
            <a:cxnSpLocks/>
          </p:cNvCxnSpPr>
          <p:nvPr/>
        </p:nvCxnSpPr>
        <p:spPr>
          <a:xfrm flipV="1">
            <a:off x="287047" y="5122071"/>
            <a:ext cx="11713275" cy="136050"/>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E6AE141E-6810-41E9-B2E5-6776C07516A9}"/>
              </a:ext>
            </a:extLst>
          </p:cNvPr>
          <p:cNvSpPr/>
          <p:nvPr/>
        </p:nvSpPr>
        <p:spPr>
          <a:xfrm>
            <a:off x="287047" y="493571"/>
            <a:ext cx="304246" cy="1567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1" name="Rectangle: Rounded Corners 50">
            <a:extLst>
              <a:ext uri="{FF2B5EF4-FFF2-40B4-BE49-F238E27FC236}">
                <a16:creationId xmlns:a16="http://schemas.microsoft.com/office/drawing/2014/main" id="{5683AE03-0EF6-43D5-8895-2C6891BC1443}"/>
              </a:ext>
            </a:extLst>
          </p:cNvPr>
          <p:cNvSpPr/>
          <p:nvPr/>
        </p:nvSpPr>
        <p:spPr>
          <a:xfrm>
            <a:off x="287047" y="757078"/>
            <a:ext cx="304246" cy="156751"/>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2" name="Rectangle: Rounded Corners 51">
            <a:extLst>
              <a:ext uri="{FF2B5EF4-FFF2-40B4-BE49-F238E27FC236}">
                <a16:creationId xmlns:a16="http://schemas.microsoft.com/office/drawing/2014/main" id="{E212DA3B-5399-4F0F-BCFF-5C9B57B20136}"/>
              </a:ext>
            </a:extLst>
          </p:cNvPr>
          <p:cNvSpPr/>
          <p:nvPr/>
        </p:nvSpPr>
        <p:spPr>
          <a:xfrm>
            <a:off x="287047" y="1034587"/>
            <a:ext cx="304246" cy="156751"/>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3" name="Rectangle: Rounded Corners 52">
            <a:extLst>
              <a:ext uri="{FF2B5EF4-FFF2-40B4-BE49-F238E27FC236}">
                <a16:creationId xmlns:a16="http://schemas.microsoft.com/office/drawing/2014/main" id="{57133799-7F82-4C98-B3B6-8AFC2B9602D2}"/>
              </a:ext>
            </a:extLst>
          </p:cNvPr>
          <p:cNvSpPr/>
          <p:nvPr/>
        </p:nvSpPr>
        <p:spPr>
          <a:xfrm>
            <a:off x="287047" y="1335146"/>
            <a:ext cx="304246" cy="156751"/>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4" name="TextBox 53">
            <a:extLst>
              <a:ext uri="{FF2B5EF4-FFF2-40B4-BE49-F238E27FC236}">
                <a16:creationId xmlns:a16="http://schemas.microsoft.com/office/drawing/2014/main" id="{C803C202-8747-49AA-BFD0-DC04258CD58D}"/>
              </a:ext>
            </a:extLst>
          </p:cNvPr>
          <p:cNvSpPr txBox="1"/>
          <p:nvPr/>
        </p:nvSpPr>
        <p:spPr>
          <a:xfrm>
            <a:off x="2248471" y="1370251"/>
            <a:ext cx="2478936" cy="369332"/>
          </a:xfrm>
          <a:prstGeom prst="rect">
            <a:avLst/>
          </a:prstGeom>
          <a:noFill/>
        </p:spPr>
        <p:txBody>
          <a:bodyPr wrap="square" rtlCol="0">
            <a:spAutoFit/>
          </a:bodyPr>
          <a:lstStyle/>
          <a:p>
            <a:r>
              <a:rPr lang="en-US" dirty="0"/>
              <a:t>AI Agent = LLM + MCP</a:t>
            </a:r>
            <a:endParaRPr lang="en-IN" dirty="0"/>
          </a:p>
        </p:txBody>
      </p:sp>
      <p:sp>
        <p:nvSpPr>
          <p:cNvPr id="55" name="TextBox 54">
            <a:extLst>
              <a:ext uri="{FF2B5EF4-FFF2-40B4-BE49-F238E27FC236}">
                <a16:creationId xmlns:a16="http://schemas.microsoft.com/office/drawing/2014/main" id="{5C8A28DD-7953-49F8-A22E-2A4B623EBFE5}"/>
              </a:ext>
            </a:extLst>
          </p:cNvPr>
          <p:cNvSpPr txBox="1"/>
          <p:nvPr/>
        </p:nvSpPr>
        <p:spPr>
          <a:xfrm>
            <a:off x="725997" y="480079"/>
            <a:ext cx="1040877" cy="276999"/>
          </a:xfrm>
          <a:prstGeom prst="rect">
            <a:avLst/>
          </a:prstGeom>
          <a:noFill/>
        </p:spPr>
        <p:txBody>
          <a:bodyPr wrap="square" rtlCol="0">
            <a:spAutoFit/>
          </a:bodyPr>
          <a:lstStyle/>
          <a:p>
            <a:r>
              <a:rPr lang="en-US" sz="1200" dirty="0"/>
              <a:t>LLM</a:t>
            </a:r>
            <a:endParaRPr lang="en-IN" sz="1200" dirty="0"/>
          </a:p>
        </p:txBody>
      </p:sp>
      <p:sp>
        <p:nvSpPr>
          <p:cNvPr id="56" name="TextBox 55">
            <a:extLst>
              <a:ext uri="{FF2B5EF4-FFF2-40B4-BE49-F238E27FC236}">
                <a16:creationId xmlns:a16="http://schemas.microsoft.com/office/drawing/2014/main" id="{869ADC78-9989-4FCF-BEC7-E9FCED08C9EE}"/>
              </a:ext>
            </a:extLst>
          </p:cNvPr>
          <p:cNvSpPr txBox="1"/>
          <p:nvPr/>
        </p:nvSpPr>
        <p:spPr>
          <a:xfrm>
            <a:off x="728151" y="696953"/>
            <a:ext cx="576496" cy="276999"/>
          </a:xfrm>
          <a:prstGeom prst="rect">
            <a:avLst/>
          </a:prstGeom>
          <a:noFill/>
        </p:spPr>
        <p:txBody>
          <a:bodyPr wrap="square" rtlCol="0">
            <a:spAutoFit/>
          </a:bodyPr>
          <a:lstStyle/>
          <a:p>
            <a:r>
              <a:rPr lang="en-US" sz="1200" dirty="0"/>
              <a:t>MCP</a:t>
            </a:r>
            <a:endParaRPr lang="en-IN" sz="1200" dirty="0"/>
          </a:p>
        </p:txBody>
      </p:sp>
      <p:sp>
        <p:nvSpPr>
          <p:cNvPr id="57" name="TextBox 56">
            <a:extLst>
              <a:ext uri="{FF2B5EF4-FFF2-40B4-BE49-F238E27FC236}">
                <a16:creationId xmlns:a16="http://schemas.microsoft.com/office/drawing/2014/main" id="{A2951D74-CC4F-4D10-B5E8-1659368D03BE}"/>
              </a:ext>
            </a:extLst>
          </p:cNvPr>
          <p:cNvSpPr txBox="1"/>
          <p:nvPr/>
        </p:nvSpPr>
        <p:spPr>
          <a:xfrm>
            <a:off x="728150" y="992181"/>
            <a:ext cx="940187" cy="276999"/>
          </a:xfrm>
          <a:prstGeom prst="rect">
            <a:avLst/>
          </a:prstGeom>
          <a:noFill/>
        </p:spPr>
        <p:txBody>
          <a:bodyPr wrap="square" rtlCol="0">
            <a:spAutoFit/>
          </a:bodyPr>
          <a:lstStyle/>
          <a:p>
            <a:r>
              <a:rPr lang="en-US" sz="1200" dirty="0"/>
              <a:t>MCP Config</a:t>
            </a:r>
            <a:endParaRPr lang="en-IN" sz="1200" dirty="0"/>
          </a:p>
        </p:txBody>
      </p:sp>
      <p:sp>
        <p:nvSpPr>
          <p:cNvPr id="58" name="TextBox 57">
            <a:extLst>
              <a:ext uri="{FF2B5EF4-FFF2-40B4-BE49-F238E27FC236}">
                <a16:creationId xmlns:a16="http://schemas.microsoft.com/office/drawing/2014/main" id="{6856B940-487C-48AC-8AF1-F4737A40264E}"/>
              </a:ext>
            </a:extLst>
          </p:cNvPr>
          <p:cNvSpPr txBox="1"/>
          <p:nvPr/>
        </p:nvSpPr>
        <p:spPr>
          <a:xfrm>
            <a:off x="728150" y="1309588"/>
            <a:ext cx="940187" cy="276999"/>
          </a:xfrm>
          <a:prstGeom prst="rect">
            <a:avLst/>
          </a:prstGeom>
          <a:noFill/>
        </p:spPr>
        <p:txBody>
          <a:bodyPr wrap="square" rtlCol="0">
            <a:spAutoFit/>
          </a:bodyPr>
          <a:lstStyle/>
          <a:p>
            <a:r>
              <a:rPr lang="en-US" sz="1200" dirty="0"/>
              <a:t>External </a:t>
            </a:r>
            <a:endParaRPr lang="en-IN" sz="1200" dirty="0"/>
          </a:p>
        </p:txBody>
      </p:sp>
      <p:sp>
        <p:nvSpPr>
          <p:cNvPr id="60" name="TextBox 59">
            <a:extLst>
              <a:ext uri="{FF2B5EF4-FFF2-40B4-BE49-F238E27FC236}">
                <a16:creationId xmlns:a16="http://schemas.microsoft.com/office/drawing/2014/main" id="{252087C9-7E58-4132-AC71-6071A95AB4FF}"/>
              </a:ext>
            </a:extLst>
          </p:cNvPr>
          <p:cNvSpPr txBox="1"/>
          <p:nvPr/>
        </p:nvSpPr>
        <p:spPr>
          <a:xfrm>
            <a:off x="203199" y="2341001"/>
            <a:ext cx="1845769" cy="370831"/>
          </a:xfrm>
          <a:prstGeom prst="rect">
            <a:avLst/>
          </a:prstGeom>
          <a:noFill/>
        </p:spPr>
        <p:txBody>
          <a:bodyPr wrap="square" rtlCol="0">
            <a:spAutoFit/>
          </a:bodyPr>
          <a:lstStyle/>
          <a:p>
            <a:r>
              <a:rPr lang="en-US" dirty="0"/>
              <a:t>MCP Client</a:t>
            </a:r>
            <a:endParaRPr lang="en-IN" dirty="0"/>
          </a:p>
        </p:txBody>
      </p:sp>
      <p:sp>
        <p:nvSpPr>
          <p:cNvPr id="61" name="TextBox 60">
            <a:extLst>
              <a:ext uri="{FF2B5EF4-FFF2-40B4-BE49-F238E27FC236}">
                <a16:creationId xmlns:a16="http://schemas.microsoft.com/office/drawing/2014/main" id="{163518C5-31AF-4385-AC66-FF09296FFB50}"/>
              </a:ext>
            </a:extLst>
          </p:cNvPr>
          <p:cNvSpPr txBox="1"/>
          <p:nvPr/>
        </p:nvSpPr>
        <p:spPr>
          <a:xfrm>
            <a:off x="203200" y="4789053"/>
            <a:ext cx="1845769" cy="370831"/>
          </a:xfrm>
          <a:prstGeom prst="rect">
            <a:avLst/>
          </a:prstGeom>
          <a:noFill/>
        </p:spPr>
        <p:txBody>
          <a:bodyPr wrap="square" rtlCol="0">
            <a:spAutoFit/>
          </a:bodyPr>
          <a:lstStyle/>
          <a:p>
            <a:r>
              <a:rPr lang="en-US" dirty="0"/>
              <a:t>MCP Server</a:t>
            </a:r>
            <a:endParaRPr lang="en-IN" dirty="0"/>
          </a:p>
        </p:txBody>
      </p:sp>
      <p:sp>
        <p:nvSpPr>
          <p:cNvPr id="84" name="Title 83">
            <a:extLst>
              <a:ext uri="{FF2B5EF4-FFF2-40B4-BE49-F238E27FC236}">
                <a16:creationId xmlns:a16="http://schemas.microsoft.com/office/drawing/2014/main" id="{DE57DAF4-28EE-4E08-964C-D39775E1C762}"/>
              </a:ext>
            </a:extLst>
          </p:cNvPr>
          <p:cNvSpPr>
            <a:spLocks noGrp="1"/>
          </p:cNvSpPr>
          <p:nvPr>
            <p:ph type="title" idx="4294967295"/>
          </p:nvPr>
        </p:nvSpPr>
        <p:spPr>
          <a:xfrm>
            <a:off x="891712" y="24953"/>
            <a:ext cx="10066338" cy="563563"/>
          </a:xfrm>
        </p:spPr>
        <p:txBody>
          <a:bodyPr>
            <a:normAutofit/>
          </a:bodyPr>
          <a:lstStyle/>
          <a:p>
            <a:pPr algn="ctr"/>
            <a:r>
              <a:rPr lang="en-US" sz="2800" b="1" dirty="0"/>
              <a:t>Agentic AI Automation Layered Architecture</a:t>
            </a:r>
            <a:endParaRPr lang="en-IN" sz="2800" b="1" dirty="0"/>
          </a:p>
        </p:txBody>
      </p:sp>
    </p:spTree>
    <p:extLst>
      <p:ext uri="{BB962C8B-B14F-4D97-AF65-F5344CB8AC3E}">
        <p14:creationId xmlns:p14="http://schemas.microsoft.com/office/powerpoint/2010/main" val="2633698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9052E-E75D-45FC-BB61-59DD51C5F421}"/>
              </a:ext>
            </a:extLst>
          </p:cNvPr>
          <p:cNvSpPr>
            <a:spLocks noGrp="1"/>
          </p:cNvSpPr>
          <p:nvPr>
            <p:ph type="title"/>
          </p:nvPr>
        </p:nvSpPr>
        <p:spPr>
          <a:xfrm>
            <a:off x="838200" y="365126"/>
            <a:ext cx="8645165" cy="464433"/>
          </a:xfrm>
        </p:spPr>
        <p:txBody>
          <a:bodyPr>
            <a:normAutofit/>
          </a:bodyPr>
          <a:lstStyle/>
          <a:p>
            <a:r>
              <a:rPr lang="en-IN" sz="2400" b="1" dirty="0"/>
              <a:t>Model Context Protocol (MCP) – Architectural Innovation</a:t>
            </a:r>
          </a:p>
        </p:txBody>
      </p:sp>
      <p:sp>
        <p:nvSpPr>
          <p:cNvPr id="3" name="Content Placeholder 2">
            <a:extLst>
              <a:ext uri="{FF2B5EF4-FFF2-40B4-BE49-F238E27FC236}">
                <a16:creationId xmlns:a16="http://schemas.microsoft.com/office/drawing/2014/main" id="{876CCF0D-B388-4E5F-ABF0-20C8E1FA74D1}"/>
              </a:ext>
            </a:extLst>
          </p:cNvPr>
          <p:cNvSpPr>
            <a:spLocks noGrp="1"/>
          </p:cNvSpPr>
          <p:nvPr>
            <p:ph idx="1"/>
          </p:nvPr>
        </p:nvSpPr>
        <p:spPr>
          <a:xfrm>
            <a:off x="838200" y="1084082"/>
            <a:ext cx="10515600" cy="5279011"/>
          </a:xfrm>
        </p:spPr>
        <p:txBody>
          <a:bodyPr>
            <a:noAutofit/>
          </a:bodyPr>
          <a:lstStyle/>
          <a:p>
            <a:pPr marL="0" indent="0">
              <a:lnSpc>
                <a:spcPct val="110000"/>
              </a:lnSpc>
              <a:buNone/>
            </a:pPr>
            <a:r>
              <a:rPr lang="en-US" sz="1600" b="1" dirty="0"/>
              <a:t>Theoretical Contribution and Technical Foundation</a:t>
            </a:r>
          </a:p>
          <a:p>
            <a:pPr marL="0" indent="0">
              <a:lnSpc>
                <a:spcPct val="110000"/>
              </a:lnSpc>
              <a:buNone/>
            </a:pPr>
            <a:r>
              <a:rPr lang="en-US" sz="1600" dirty="0"/>
              <a:t>The </a:t>
            </a:r>
            <a:r>
              <a:rPr lang="en-US" sz="1600" b="1" dirty="0"/>
              <a:t>Model Context Protocol (MCP) </a:t>
            </a:r>
            <a:r>
              <a:rPr lang="en-US" sz="1600" dirty="0"/>
              <a:t>changes how AI talks to other systems, a bit like plugging everything in with an universal USB-C connector. It is a standardized bridge that lets AI models plug into all sorts of platforms without a headache.</a:t>
            </a:r>
          </a:p>
          <a:p>
            <a:pPr marL="0" indent="0">
              <a:lnSpc>
                <a:spcPct val="110000"/>
              </a:lnSpc>
              <a:buNone/>
            </a:pPr>
            <a:r>
              <a:rPr lang="en-US" sz="1600" b="1" dirty="0"/>
              <a:t>Here is how MCP works in practice:</a:t>
            </a:r>
          </a:p>
          <a:p>
            <a:pPr marL="0" indent="0">
              <a:lnSpc>
                <a:spcPct val="110000"/>
              </a:lnSpc>
              <a:buNone/>
            </a:pPr>
            <a:r>
              <a:rPr lang="en-US" sz="1600" dirty="0"/>
              <a:t>First, you have got the </a:t>
            </a:r>
            <a:r>
              <a:rPr lang="en-US" sz="1600" b="1" dirty="0"/>
              <a:t>MCP Client. </a:t>
            </a:r>
            <a:r>
              <a:rPr lang="en-US" sz="1600" dirty="0"/>
              <a:t>This is what people actually use to give commands in plain English (Prompt Engineering). Think Claude Desktop, smart IDEs like Cursor or VS Code, or specialized AI apps—these all act as MCP Clients.</a:t>
            </a:r>
          </a:p>
          <a:p>
            <a:pPr marL="0" indent="0">
              <a:lnSpc>
                <a:spcPct val="100000"/>
              </a:lnSpc>
              <a:buNone/>
            </a:pPr>
            <a:r>
              <a:rPr lang="en-US" sz="1600" dirty="0"/>
              <a:t>Then, there is the </a:t>
            </a:r>
            <a:r>
              <a:rPr lang="en-US" sz="1600" b="1" dirty="0"/>
              <a:t>MCP Server</a:t>
            </a:r>
            <a:r>
              <a:rPr lang="en-US" sz="1600" dirty="0"/>
              <a:t>. It sits in the middle, keeping the conversation flowing between the AI Agent and whatever system it needs to work with. The server hands out tools tailored for each domain: if you are automating a browser, you get options like </a:t>
            </a:r>
            <a:r>
              <a:rPr lang="en-US" sz="1600" dirty="0" err="1"/>
              <a:t>navigate_browser</a:t>
            </a:r>
            <a:r>
              <a:rPr lang="en-US" sz="1600" dirty="0"/>
              <a:t> and </a:t>
            </a:r>
            <a:r>
              <a:rPr lang="en-US" sz="1600" dirty="0" err="1"/>
              <a:t>click_element</a:t>
            </a:r>
            <a:r>
              <a:rPr lang="en-US" sz="1600" dirty="0"/>
              <a:t>; if you are talking to a database, you have got </a:t>
            </a:r>
            <a:r>
              <a:rPr lang="en-US" sz="1600" dirty="0" err="1"/>
              <a:t>execute_sql</a:t>
            </a:r>
            <a:r>
              <a:rPr lang="en-US" sz="1600" dirty="0"/>
              <a:t> and </a:t>
            </a:r>
            <a:r>
              <a:rPr lang="en-US" sz="1600" dirty="0" err="1"/>
              <a:t>fetch_records</a:t>
            </a:r>
            <a:r>
              <a:rPr lang="en-US" sz="1600" dirty="0"/>
              <a:t>.</a:t>
            </a:r>
          </a:p>
          <a:p>
            <a:pPr marL="0" indent="0">
              <a:lnSpc>
                <a:spcPct val="110000"/>
              </a:lnSpc>
              <a:buNone/>
            </a:pPr>
            <a:r>
              <a:rPr lang="en-US" sz="1600" dirty="0"/>
              <a:t>Of course, it needs to hook into </a:t>
            </a:r>
            <a:r>
              <a:rPr lang="en-US" sz="1600" b="1" dirty="0"/>
              <a:t>real-world systems</a:t>
            </a:r>
            <a:r>
              <a:rPr lang="en-US" sz="1600" dirty="0"/>
              <a:t>, too. MCP connects to external tools like MySQL and PostgreSQL databases, browser automation frameworks (Playwright, Selenium), REST APIs, your local files, and spreadsheet apps.</a:t>
            </a:r>
          </a:p>
          <a:p>
            <a:pPr marL="0" indent="0">
              <a:lnSpc>
                <a:spcPct val="110000"/>
              </a:lnSpc>
              <a:buNone/>
            </a:pPr>
            <a:r>
              <a:rPr lang="en-US" sz="1600" b="1" dirty="0"/>
              <a:t>How does it all play out? </a:t>
            </a:r>
          </a:p>
          <a:p>
            <a:pPr marL="0" indent="0">
              <a:lnSpc>
                <a:spcPct val="110000"/>
              </a:lnSpc>
              <a:buNone/>
            </a:pPr>
            <a:r>
              <a:rPr lang="en-US" sz="1600" dirty="0"/>
              <a:t>It is a step-by-step process. The AI agent starts by breaking down your request, figuring out what you want. Next, it scouts for MCP servers and checks which tools they offer. Finally, it picks the best tools for the job and gets to work. That is basically how MCP keeps everything running smoothly between AI agent and external systems.</a:t>
            </a:r>
            <a:endParaRPr lang="en-IN" sz="1600" dirty="0"/>
          </a:p>
        </p:txBody>
      </p:sp>
    </p:spTree>
    <p:extLst>
      <p:ext uri="{BB962C8B-B14F-4D97-AF65-F5344CB8AC3E}">
        <p14:creationId xmlns:p14="http://schemas.microsoft.com/office/powerpoint/2010/main" val="475343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B3A48-0488-4045-AE0C-AE4CBD2D40BA}"/>
              </a:ext>
            </a:extLst>
          </p:cNvPr>
          <p:cNvSpPr>
            <a:spLocks noGrp="1"/>
          </p:cNvSpPr>
          <p:nvPr>
            <p:ph type="title"/>
          </p:nvPr>
        </p:nvSpPr>
        <p:spPr>
          <a:xfrm>
            <a:off x="838200" y="252005"/>
            <a:ext cx="10515600" cy="520993"/>
          </a:xfrm>
        </p:spPr>
        <p:txBody>
          <a:bodyPr>
            <a:normAutofit/>
          </a:bodyPr>
          <a:lstStyle/>
          <a:p>
            <a:r>
              <a:rPr lang="en-IN" sz="2800" b="1" dirty="0" err="1"/>
              <a:t>AutoGen</a:t>
            </a:r>
            <a:r>
              <a:rPr lang="en-IN" sz="2800" b="1" dirty="0"/>
              <a:t> Framework – Multi-Agent Orchestration</a:t>
            </a:r>
          </a:p>
        </p:txBody>
      </p:sp>
      <p:sp>
        <p:nvSpPr>
          <p:cNvPr id="3" name="Content Placeholder 2">
            <a:extLst>
              <a:ext uri="{FF2B5EF4-FFF2-40B4-BE49-F238E27FC236}">
                <a16:creationId xmlns:a16="http://schemas.microsoft.com/office/drawing/2014/main" id="{E6CE779C-DE26-4C9D-9394-776797E24993}"/>
              </a:ext>
            </a:extLst>
          </p:cNvPr>
          <p:cNvSpPr>
            <a:spLocks noGrp="1"/>
          </p:cNvSpPr>
          <p:nvPr>
            <p:ph idx="1"/>
          </p:nvPr>
        </p:nvSpPr>
        <p:spPr>
          <a:xfrm>
            <a:off x="838200" y="1027524"/>
            <a:ext cx="10515600" cy="5222447"/>
          </a:xfrm>
        </p:spPr>
        <p:txBody>
          <a:bodyPr>
            <a:normAutofit fontScale="85000" lnSpcReduction="20000"/>
          </a:bodyPr>
          <a:lstStyle/>
          <a:p>
            <a:pPr marL="0" indent="0">
              <a:lnSpc>
                <a:spcPct val="110000"/>
              </a:lnSpc>
              <a:buNone/>
            </a:pPr>
            <a:r>
              <a:rPr lang="en-US" sz="1800" b="1" dirty="0"/>
              <a:t>Building Out Collaborative Intelligence with Microsoft </a:t>
            </a:r>
            <a:r>
              <a:rPr lang="en-US" sz="1800" b="1" dirty="0" err="1"/>
              <a:t>AutoGen</a:t>
            </a:r>
            <a:endParaRPr lang="en-US" sz="1800" b="1" dirty="0"/>
          </a:p>
          <a:p>
            <a:pPr marL="0" indent="0">
              <a:lnSpc>
                <a:spcPct val="110000"/>
              </a:lnSpc>
              <a:buNone/>
            </a:pPr>
            <a:r>
              <a:rPr lang="en-US" sz="1800" dirty="0"/>
              <a:t>The Microsoft’s </a:t>
            </a:r>
            <a:r>
              <a:rPr lang="en-US" sz="1800" dirty="0" err="1"/>
              <a:t>AutoGen</a:t>
            </a:r>
            <a:r>
              <a:rPr lang="en-US" sz="1800" dirty="0"/>
              <a:t> framework lays the groundwork for teams of intelligent agents to actually work together, not just in theory, but in practice. Each agent is not just a generic bot; it can have its own set of skills and a well-defined role. </a:t>
            </a:r>
          </a:p>
          <a:p>
            <a:pPr marL="0" indent="0">
              <a:lnSpc>
                <a:spcPct val="110000"/>
              </a:lnSpc>
              <a:buNone/>
            </a:pPr>
            <a:r>
              <a:rPr lang="en-US" sz="1800" b="1" dirty="0"/>
              <a:t>Let’s break down the key pieces: </a:t>
            </a:r>
          </a:p>
          <a:p>
            <a:pPr marL="0" indent="0">
              <a:lnSpc>
                <a:spcPct val="110000"/>
              </a:lnSpc>
              <a:buNone/>
            </a:pPr>
            <a:r>
              <a:rPr lang="en-US" sz="1800" b="1" dirty="0" err="1"/>
              <a:t>AssistantAgent</a:t>
            </a:r>
            <a:r>
              <a:rPr lang="en-US" sz="1800" b="1" dirty="0"/>
              <a:t> Architecture: </a:t>
            </a:r>
            <a:r>
              <a:rPr lang="en-US" sz="1800" dirty="0"/>
              <a:t>This is the basic building block. It is an agent powered by a large language model, set up with API credentials so it can “think” and act within its scope.</a:t>
            </a:r>
          </a:p>
          <a:p>
            <a:pPr marL="0" indent="0">
              <a:lnSpc>
                <a:spcPct val="110000"/>
              </a:lnSpc>
              <a:buNone/>
            </a:pPr>
            <a:r>
              <a:rPr lang="en-US" sz="1800" b="1" dirty="0"/>
              <a:t>How work gets done:</a:t>
            </a:r>
          </a:p>
          <a:p>
            <a:pPr>
              <a:lnSpc>
                <a:spcPct val="110000"/>
              </a:lnSpc>
            </a:pPr>
            <a:r>
              <a:rPr lang="en-US" sz="1800" dirty="0"/>
              <a:t>You can run the show with a single agent for simple question-and-answer stuff. </a:t>
            </a:r>
          </a:p>
          <a:p>
            <a:pPr>
              <a:lnSpc>
                <a:spcPct val="110000"/>
              </a:lnSpc>
            </a:pPr>
            <a:r>
              <a:rPr lang="en-US" sz="1800" dirty="0"/>
              <a:t>When things get tricky or layered, you split up the project and pass each slice to an agent with the right expertise. </a:t>
            </a:r>
          </a:p>
          <a:p>
            <a:pPr>
              <a:lnSpc>
                <a:spcPct val="110000"/>
              </a:lnSpc>
            </a:pPr>
            <a:r>
              <a:rPr lang="en-US" sz="1800" dirty="0"/>
              <a:t>And if there is a call for human judgment, maybe a spot where common sense has to kick in you keep a person in the loop right where it matters. </a:t>
            </a:r>
          </a:p>
          <a:p>
            <a:pPr marL="0" indent="0">
              <a:lnSpc>
                <a:spcPct val="110000"/>
              </a:lnSpc>
              <a:buNone/>
            </a:pPr>
            <a:r>
              <a:rPr lang="en-US" sz="1800" b="1" dirty="0"/>
              <a:t>How the agents work together: </a:t>
            </a:r>
            <a:r>
              <a:rPr lang="en-US" sz="1800" dirty="0"/>
              <a:t>They do not just shout over each other. Instead, they take turns, think of it as a group chat, each agent stepping in when it is their turn, following prompts set up for their role. There are clear stopping points too, so they are not just endlessly talking in circles. </a:t>
            </a:r>
          </a:p>
          <a:p>
            <a:pPr marL="0" indent="0">
              <a:lnSpc>
                <a:spcPct val="110000"/>
              </a:lnSpc>
              <a:buNone/>
            </a:pPr>
            <a:r>
              <a:rPr lang="en-US" sz="1800" b="1" dirty="0"/>
              <a:t>Remembering Context: </a:t>
            </a:r>
            <a:r>
              <a:rPr lang="en-US" sz="1800" dirty="0"/>
              <a:t>The system tracks what is happened in the conversation, so when work stretches over time, the agents are not just starting from scratch each time. </a:t>
            </a:r>
          </a:p>
          <a:p>
            <a:pPr marL="0" indent="0">
              <a:lnSpc>
                <a:spcPct val="110000"/>
              </a:lnSpc>
              <a:buNone/>
            </a:pPr>
            <a:r>
              <a:rPr lang="en-US" sz="1800" b="1" dirty="0"/>
              <a:t>Defining Roles: </a:t>
            </a:r>
            <a:r>
              <a:rPr lang="en-US" sz="1800" dirty="0"/>
              <a:t>Every agent knows what it is responsible for and what not to mess with. They are given exact instructions through system prompts, so each one sticks to their domain and collaborates smoothly.</a:t>
            </a:r>
          </a:p>
        </p:txBody>
      </p:sp>
    </p:spTree>
    <p:extLst>
      <p:ext uri="{BB962C8B-B14F-4D97-AF65-F5344CB8AC3E}">
        <p14:creationId xmlns:p14="http://schemas.microsoft.com/office/powerpoint/2010/main" val="3543618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37224-EB88-4634-B67D-1749E4CE0837}"/>
              </a:ext>
            </a:extLst>
          </p:cNvPr>
          <p:cNvSpPr>
            <a:spLocks noGrp="1"/>
          </p:cNvSpPr>
          <p:nvPr>
            <p:ph type="title"/>
          </p:nvPr>
        </p:nvSpPr>
        <p:spPr>
          <a:xfrm>
            <a:off x="838200" y="128339"/>
            <a:ext cx="10515600" cy="681037"/>
          </a:xfrm>
        </p:spPr>
        <p:txBody>
          <a:bodyPr>
            <a:normAutofit/>
          </a:bodyPr>
          <a:lstStyle/>
          <a:p>
            <a:r>
              <a:rPr lang="fr-FR" sz="2800" dirty="0"/>
              <a:t>Multi-Agent Automation Framework – Technical Implementation</a:t>
            </a:r>
            <a:endParaRPr lang="en-IN" sz="2800" dirty="0"/>
          </a:p>
        </p:txBody>
      </p:sp>
      <p:sp>
        <p:nvSpPr>
          <p:cNvPr id="3" name="Content Placeholder 2">
            <a:extLst>
              <a:ext uri="{FF2B5EF4-FFF2-40B4-BE49-F238E27FC236}">
                <a16:creationId xmlns:a16="http://schemas.microsoft.com/office/drawing/2014/main" id="{AFEF6721-58D4-438D-9D73-6E8087855240}"/>
              </a:ext>
            </a:extLst>
          </p:cNvPr>
          <p:cNvSpPr>
            <a:spLocks noGrp="1"/>
          </p:cNvSpPr>
          <p:nvPr>
            <p:ph idx="1"/>
          </p:nvPr>
        </p:nvSpPr>
        <p:spPr>
          <a:xfrm>
            <a:off x="838200" y="980389"/>
            <a:ext cx="10515600" cy="5203596"/>
          </a:xfrm>
        </p:spPr>
        <p:txBody>
          <a:bodyPr>
            <a:noAutofit/>
          </a:bodyPr>
          <a:lstStyle/>
          <a:p>
            <a:pPr marL="0" indent="0">
              <a:lnSpc>
                <a:spcPct val="100000"/>
              </a:lnSpc>
              <a:buNone/>
            </a:pPr>
            <a:r>
              <a:rPr lang="en-US" sz="1800" b="1" dirty="0"/>
              <a:t>Making Agent Teams Work in Practice</a:t>
            </a:r>
          </a:p>
          <a:p>
            <a:pPr marL="0" indent="0">
              <a:lnSpc>
                <a:spcPct val="100000"/>
              </a:lnSpc>
              <a:buNone/>
            </a:pPr>
            <a:r>
              <a:rPr lang="en-US" sz="1800" dirty="0"/>
              <a:t>This framework brings together a group of specialized agents that work as one team. Together, they handle tough automation jobs, like testing user interfaces, checking databases, verifying APIs, and even generating reports.</a:t>
            </a:r>
          </a:p>
          <a:p>
            <a:pPr marL="0" indent="0">
              <a:lnSpc>
                <a:spcPct val="100000"/>
              </a:lnSpc>
              <a:buNone/>
            </a:pPr>
            <a:r>
              <a:rPr lang="en-US" sz="1800" b="1" dirty="0"/>
              <a:t>Here is how it comes together:</a:t>
            </a:r>
          </a:p>
          <a:p>
            <a:pPr marL="0" indent="0">
              <a:lnSpc>
                <a:spcPct val="100000"/>
              </a:lnSpc>
              <a:buNone/>
            </a:pPr>
            <a:r>
              <a:rPr lang="en-US" sz="1800" dirty="0"/>
              <a:t>1. </a:t>
            </a:r>
            <a:r>
              <a:rPr lang="en-US" sz="1800" b="1" dirty="0"/>
              <a:t>Agent Factory: </a:t>
            </a:r>
            <a:r>
              <a:rPr lang="en-US" sz="1800" dirty="0"/>
              <a:t>Starter Kit, The Agent Factory builds agents using ready-made templates, so you do not have to start from scratch every time.</a:t>
            </a:r>
          </a:p>
          <a:p>
            <a:pPr lvl="1">
              <a:lnSpc>
                <a:spcPct val="100000"/>
              </a:lnSpc>
            </a:pPr>
            <a:r>
              <a:rPr lang="en-US" sz="1800" b="1" dirty="0" err="1"/>
              <a:t>AutomationAgent</a:t>
            </a:r>
            <a:r>
              <a:rPr lang="en-US" sz="1800" b="1" dirty="0"/>
              <a:t>: </a:t>
            </a:r>
            <a:r>
              <a:rPr lang="en-US" sz="1800" dirty="0"/>
              <a:t>Handles any sort of browser-based automation.</a:t>
            </a:r>
          </a:p>
          <a:p>
            <a:pPr lvl="1">
              <a:lnSpc>
                <a:spcPct val="100000"/>
              </a:lnSpc>
            </a:pPr>
            <a:r>
              <a:rPr lang="en-US" sz="1800" b="1" dirty="0" err="1"/>
              <a:t>DatabaseAgent</a:t>
            </a:r>
            <a:r>
              <a:rPr lang="en-US" sz="1800" b="1" dirty="0"/>
              <a:t>: </a:t>
            </a:r>
            <a:r>
              <a:rPr lang="en-US" sz="1800" dirty="0"/>
              <a:t>Takes care of SQL tasks and grabs the data you need.</a:t>
            </a:r>
          </a:p>
          <a:p>
            <a:pPr lvl="1">
              <a:lnSpc>
                <a:spcPct val="100000"/>
              </a:lnSpc>
            </a:pPr>
            <a:r>
              <a:rPr lang="en-US" sz="1800" b="1" dirty="0" err="1"/>
              <a:t>APIAgent</a:t>
            </a:r>
            <a:r>
              <a:rPr lang="en-US" sz="1800" b="1" dirty="0"/>
              <a:t>: </a:t>
            </a:r>
            <a:r>
              <a:rPr lang="en-US" sz="1800" dirty="0"/>
              <a:t>Checks APIs and runs integration tests.</a:t>
            </a:r>
          </a:p>
          <a:p>
            <a:pPr lvl="1">
              <a:lnSpc>
                <a:spcPct val="100000"/>
              </a:lnSpc>
            </a:pPr>
            <a:r>
              <a:rPr lang="en-US" sz="1800" b="1" dirty="0" err="1"/>
              <a:t>ExcelAgent</a:t>
            </a:r>
            <a:r>
              <a:rPr lang="en-US" sz="1800" b="1" dirty="0"/>
              <a:t>: </a:t>
            </a:r>
            <a:r>
              <a:rPr lang="en-US" sz="1800" dirty="0"/>
              <a:t>Deals with spreadsheets and exporting data.</a:t>
            </a:r>
          </a:p>
          <a:p>
            <a:pPr marL="0" indent="0">
              <a:lnSpc>
                <a:spcPct val="100000"/>
              </a:lnSpc>
              <a:buNone/>
            </a:pPr>
            <a:r>
              <a:rPr lang="en-US" sz="1800" dirty="0"/>
              <a:t>Every time you spin up a new agent, you set three things: its role, the decision-making model it will use, and a tailored toolkit that gives it the skills it needs for the job.</a:t>
            </a:r>
            <a:endParaRPr lang="en-IN" sz="1800" dirty="0"/>
          </a:p>
        </p:txBody>
      </p:sp>
    </p:spTree>
    <p:extLst>
      <p:ext uri="{BB962C8B-B14F-4D97-AF65-F5344CB8AC3E}">
        <p14:creationId xmlns:p14="http://schemas.microsoft.com/office/powerpoint/2010/main" val="1902153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E46F60-79E8-49EF-9928-791C7CDBF9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692" y="0"/>
            <a:ext cx="12584299" cy="6858000"/>
          </a:xfrm>
          <a:prstGeom prst="rect">
            <a:avLst/>
          </a:prstGeom>
          <a:effectLst>
            <a:glow rad="152400">
              <a:schemeClr val="accent1">
                <a:alpha val="64000"/>
              </a:schemeClr>
            </a:glow>
          </a:effectLst>
        </p:spPr>
      </p:pic>
    </p:spTree>
    <p:extLst>
      <p:ext uri="{BB962C8B-B14F-4D97-AF65-F5344CB8AC3E}">
        <p14:creationId xmlns:p14="http://schemas.microsoft.com/office/powerpoint/2010/main" val="2272747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37224-EB88-4634-B67D-1749E4CE0837}"/>
              </a:ext>
            </a:extLst>
          </p:cNvPr>
          <p:cNvSpPr>
            <a:spLocks noGrp="1"/>
          </p:cNvSpPr>
          <p:nvPr>
            <p:ph type="title"/>
          </p:nvPr>
        </p:nvSpPr>
        <p:spPr>
          <a:xfrm>
            <a:off x="838200" y="128339"/>
            <a:ext cx="10515600" cy="681037"/>
          </a:xfrm>
        </p:spPr>
        <p:txBody>
          <a:bodyPr>
            <a:normAutofit/>
          </a:bodyPr>
          <a:lstStyle/>
          <a:p>
            <a:r>
              <a:rPr lang="fr-FR" sz="2800" dirty="0"/>
              <a:t>Multi-Agent Automation Framework – Technical Implementation</a:t>
            </a:r>
            <a:endParaRPr lang="en-IN" sz="2800" dirty="0"/>
          </a:p>
        </p:txBody>
      </p:sp>
      <p:sp>
        <p:nvSpPr>
          <p:cNvPr id="3" name="Content Placeholder 2">
            <a:extLst>
              <a:ext uri="{FF2B5EF4-FFF2-40B4-BE49-F238E27FC236}">
                <a16:creationId xmlns:a16="http://schemas.microsoft.com/office/drawing/2014/main" id="{AFEF6721-58D4-438D-9D73-6E8087855240}"/>
              </a:ext>
            </a:extLst>
          </p:cNvPr>
          <p:cNvSpPr>
            <a:spLocks noGrp="1"/>
          </p:cNvSpPr>
          <p:nvPr>
            <p:ph idx="1"/>
          </p:nvPr>
        </p:nvSpPr>
        <p:spPr>
          <a:xfrm>
            <a:off x="838200" y="1008668"/>
            <a:ext cx="10515600" cy="5392132"/>
          </a:xfrm>
        </p:spPr>
        <p:txBody>
          <a:bodyPr>
            <a:noAutofit/>
          </a:bodyPr>
          <a:lstStyle/>
          <a:p>
            <a:pPr marL="0" indent="0">
              <a:lnSpc>
                <a:spcPct val="100000"/>
              </a:lnSpc>
              <a:buNone/>
            </a:pPr>
            <a:r>
              <a:rPr lang="en-IN" sz="1800" b="1" dirty="0"/>
              <a:t>2. MCP Configuration: </a:t>
            </a:r>
            <a:r>
              <a:rPr lang="en-IN" sz="1800" dirty="0"/>
              <a:t>Orchestrating Tasks with External Tools. </a:t>
            </a:r>
          </a:p>
          <a:p>
            <a:pPr marL="0" indent="0">
              <a:lnSpc>
                <a:spcPct val="100000"/>
              </a:lnSpc>
              <a:buNone/>
            </a:pPr>
            <a:r>
              <a:rPr lang="en-IN" sz="1800" dirty="0" err="1"/>
              <a:t>McpConfig</a:t>
            </a:r>
            <a:r>
              <a:rPr lang="en-IN" sz="1800" dirty="0"/>
              <a:t> connects agents to the right external tool for the job:</a:t>
            </a:r>
          </a:p>
          <a:p>
            <a:pPr marL="0" indent="0">
              <a:lnSpc>
                <a:spcPct val="100000"/>
              </a:lnSpc>
              <a:buNone/>
            </a:pPr>
            <a:endParaRPr lang="en-IN" sz="1800" dirty="0"/>
          </a:p>
          <a:p>
            <a:pPr lvl="1">
              <a:lnSpc>
                <a:spcPct val="100000"/>
              </a:lnSpc>
            </a:pPr>
            <a:r>
              <a:rPr lang="en-IN" sz="1800" dirty="0"/>
              <a:t>Playwright MCP handles browser automation.  </a:t>
            </a:r>
          </a:p>
          <a:p>
            <a:pPr lvl="1">
              <a:lnSpc>
                <a:spcPct val="100000"/>
              </a:lnSpc>
            </a:pPr>
            <a:r>
              <a:rPr lang="en-IN" sz="1800" dirty="0"/>
              <a:t>MySQL MCP runs database queries.  </a:t>
            </a:r>
          </a:p>
          <a:p>
            <a:pPr lvl="1">
              <a:lnSpc>
                <a:spcPct val="100000"/>
              </a:lnSpc>
            </a:pPr>
            <a:r>
              <a:rPr lang="en-IN" sz="1800" dirty="0"/>
              <a:t>REST API MCP manages API calls.  </a:t>
            </a:r>
          </a:p>
          <a:p>
            <a:pPr lvl="1">
              <a:lnSpc>
                <a:spcPct val="100000"/>
              </a:lnSpc>
            </a:pPr>
            <a:r>
              <a:rPr lang="en-IN" sz="1800" dirty="0"/>
              <a:t>Excel MCP deals with spreadsheets.</a:t>
            </a:r>
          </a:p>
          <a:p>
            <a:pPr marL="0" indent="0">
              <a:lnSpc>
                <a:spcPct val="100000"/>
              </a:lnSpc>
              <a:buNone/>
            </a:pPr>
            <a:endParaRPr lang="en-IN" sz="1800" b="1" dirty="0"/>
          </a:p>
          <a:p>
            <a:pPr marL="0" indent="0">
              <a:lnSpc>
                <a:spcPct val="100000"/>
              </a:lnSpc>
              <a:buNone/>
            </a:pPr>
            <a:r>
              <a:rPr lang="en-IN" sz="1800" b="1" dirty="0"/>
              <a:t>3. Scenario Definition</a:t>
            </a:r>
            <a:r>
              <a:rPr lang="en-IN" sz="1800" dirty="0"/>
              <a:t>: Defining the task, scenarios work like test cases, they lay out what the task involves and what results are expected.</a:t>
            </a:r>
          </a:p>
          <a:p>
            <a:pPr marL="0" indent="0">
              <a:lnSpc>
                <a:spcPct val="100000"/>
              </a:lnSpc>
              <a:buNone/>
            </a:pPr>
            <a:endParaRPr lang="en-IN" sz="1800" b="1" dirty="0"/>
          </a:p>
          <a:p>
            <a:pPr marL="0" indent="0">
              <a:lnSpc>
                <a:spcPct val="100000"/>
              </a:lnSpc>
              <a:buNone/>
            </a:pPr>
            <a:r>
              <a:rPr lang="en-IN" sz="1800" b="1" dirty="0"/>
              <a:t>Tech Stack:  </a:t>
            </a:r>
          </a:p>
          <a:p>
            <a:pPr marL="0" indent="0">
              <a:lnSpc>
                <a:spcPct val="100000"/>
              </a:lnSpc>
              <a:buNone/>
            </a:pPr>
            <a:r>
              <a:rPr lang="en-IN" sz="1800" dirty="0"/>
              <a:t>Python 3.10+, Microsoft </a:t>
            </a:r>
            <a:r>
              <a:rPr lang="en-IN" sz="1800" dirty="0" err="1"/>
              <a:t>AutoGen</a:t>
            </a:r>
            <a:r>
              <a:rPr lang="en-IN" sz="1800" dirty="0"/>
              <a:t>, </a:t>
            </a:r>
            <a:r>
              <a:rPr lang="en-IN" sz="1800" dirty="0" err="1"/>
              <a:t>OpenAI</a:t>
            </a:r>
            <a:r>
              <a:rPr lang="en-IN" sz="1800" dirty="0"/>
              <a:t> API, Model Context Protocol (MCP), Playwright, </a:t>
            </a:r>
            <a:r>
              <a:rPr lang="en-IN" sz="1800" dirty="0" err="1"/>
              <a:t>mysql</a:t>
            </a:r>
            <a:r>
              <a:rPr lang="en-IN" sz="1800" dirty="0"/>
              <a:t>-connector-Python and </a:t>
            </a:r>
            <a:r>
              <a:rPr lang="en-IN" sz="1800" dirty="0" err="1"/>
              <a:t>mysql_mcp_server</a:t>
            </a:r>
            <a:r>
              <a:rPr lang="en-IN" sz="1800" dirty="0"/>
              <a:t>.</a:t>
            </a:r>
          </a:p>
        </p:txBody>
      </p:sp>
    </p:spTree>
    <p:extLst>
      <p:ext uri="{BB962C8B-B14F-4D97-AF65-F5344CB8AC3E}">
        <p14:creationId xmlns:p14="http://schemas.microsoft.com/office/powerpoint/2010/main" val="2211670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EA52D-4DFD-47BB-9B20-C5AE77D0CAC6}"/>
              </a:ext>
            </a:extLst>
          </p:cNvPr>
          <p:cNvSpPr>
            <a:spLocks noGrp="1"/>
          </p:cNvSpPr>
          <p:nvPr>
            <p:ph type="title"/>
          </p:nvPr>
        </p:nvSpPr>
        <p:spPr>
          <a:xfrm>
            <a:off x="838200" y="365127"/>
            <a:ext cx="10515600" cy="902201"/>
          </a:xfrm>
        </p:spPr>
        <p:txBody>
          <a:bodyPr>
            <a:normAutofit/>
          </a:bodyPr>
          <a:lstStyle/>
          <a:p>
            <a:r>
              <a:rPr lang="en-US" sz="2800" b="1" dirty="0"/>
              <a:t>Advanced Concepts and Trajectory</a:t>
            </a:r>
            <a:endParaRPr lang="en-IN" sz="2800" b="1" dirty="0"/>
          </a:p>
        </p:txBody>
      </p:sp>
      <p:sp>
        <p:nvSpPr>
          <p:cNvPr id="3" name="Content Placeholder 2">
            <a:extLst>
              <a:ext uri="{FF2B5EF4-FFF2-40B4-BE49-F238E27FC236}">
                <a16:creationId xmlns:a16="http://schemas.microsoft.com/office/drawing/2014/main" id="{C79DE097-28C0-481D-B84C-1D91068F8C16}"/>
              </a:ext>
            </a:extLst>
          </p:cNvPr>
          <p:cNvSpPr>
            <a:spLocks noGrp="1"/>
          </p:cNvSpPr>
          <p:nvPr>
            <p:ph idx="1"/>
          </p:nvPr>
        </p:nvSpPr>
        <p:spPr>
          <a:xfrm>
            <a:off x="838200" y="1267328"/>
            <a:ext cx="10515600" cy="4909637"/>
          </a:xfrm>
        </p:spPr>
        <p:txBody>
          <a:bodyPr>
            <a:normAutofit/>
          </a:bodyPr>
          <a:lstStyle/>
          <a:p>
            <a:pPr marL="0" indent="0">
              <a:lnSpc>
                <a:spcPct val="100000"/>
              </a:lnSpc>
              <a:buNone/>
            </a:pPr>
            <a:r>
              <a:rPr lang="en-US" sz="1800" b="1" dirty="0"/>
              <a:t>Sophisticated Agent Coordination Mechanisms</a:t>
            </a:r>
          </a:p>
          <a:p>
            <a:pPr marL="0" indent="0">
              <a:lnSpc>
                <a:spcPct val="100000"/>
              </a:lnSpc>
              <a:buNone/>
            </a:pPr>
            <a:endParaRPr lang="en-US" sz="1800" b="1" dirty="0"/>
          </a:p>
          <a:p>
            <a:pPr lvl="1">
              <a:lnSpc>
                <a:spcPct val="100000"/>
              </a:lnSpc>
            </a:pPr>
            <a:r>
              <a:rPr lang="en-US" sz="1800" dirty="0"/>
              <a:t>Clear rules for when agents should stop ensure their conversations do not run forever. This keeps computing costs and API token use under control. </a:t>
            </a:r>
          </a:p>
          <a:p>
            <a:pPr lvl="1">
              <a:lnSpc>
                <a:spcPct val="100000"/>
              </a:lnSpc>
            </a:pPr>
            <a:r>
              <a:rPr lang="en-US" sz="1800" dirty="0"/>
              <a:t>On top of that, complex systems use persistent memory to help agents remember what happened in earlier interactions. </a:t>
            </a:r>
          </a:p>
          <a:p>
            <a:pPr lvl="1">
              <a:lnSpc>
                <a:spcPct val="100000"/>
              </a:lnSpc>
            </a:pPr>
            <a:r>
              <a:rPr lang="en-US" sz="1800" dirty="0"/>
              <a:t>With this kind of memory, agents can plan better and work together on tasks that take more than one exchange.</a:t>
            </a:r>
          </a:p>
          <a:p>
            <a:pPr lvl="1">
              <a:lnSpc>
                <a:spcPct val="100000"/>
              </a:lnSpc>
            </a:pPr>
            <a:r>
              <a:rPr lang="en-US" sz="1800" dirty="0"/>
              <a:t>Sometimes, these systems invite humans into the loop at key moments. When people step in to make decisions or just check on things, they balance the agents’ autonomy with common sense and risk management.</a:t>
            </a:r>
          </a:p>
          <a:p>
            <a:pPr marL="0" indent="0">
              <a:lnSpc>
                <a:spcPct val="100000"/>
              </a:lnSpc>
              <a:buNone/>
            </a:pPr>
            <a:endParaRPr lang="en-US" sz="1800" dirty="0"/>
          </a:p>
          <a:p>
            <a:pPr marL="0" indent="0">
              <a:lnSpc>
                <a:spcPct val="100000"/>
              </a:lnSpc>
              <a:buNone/>
            </a:pPr>
            <a:r>
              <a:rPr lang="en-US" sz="1800" dirty="0"/>
              <a:t>Finally, </a:t>
            </a:r>
            <a:r>
              <a:rPr lang="en-US" sz="1800" b="1" dirty="0"/>
              <a:t>SelectorGroupChat</a:t>
            </a:r>
            <a:r>
              <a:rPr lang="en-US" sz="1800" dirty="0"/>
              <a:t> protocols use smart picking methods. They match agents to tasks based on what each agent’s good at and what the situation calls for, so you are always getting the right agent for the job.</a:t>
            </a:r>
            <a:endParaRPr lang="en-IN" sz="1800" dirty="0"/>
          </a:p>
        </p:txBody>
      </p:sp>
    </p:spTree>
    <p:extLst>
      <p:ext uri="{BB962C8B-B14F-4D97-AF65-F5344CB8AC3E}">
        <p14:creationId xmlns:p14="http://schemas.microsoft.com/office/powerpoint/2010/main" val="82133051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849286D-EE4F-4E45-A415-760442DC5A0C}"/>
              </a:ext>
            </a:extLst>
          </p:cNvPr>
          <p:cNvGraphicFramePr>
            <a:graphicFrameLocks noGrp="1"/>
          </p:cNvGraphicFramePr>
          <p:nvPr>
            <p:extLst>
              <p:ext uri="{D42A27DB-BD31-4B8C-83A1-F6EECF244321}">
                <p14:modId xmlns:p14="http://schemas.microsoft.com/office/powerpoint/2010/main" val="3665798622"/>
              </p:ext>
            </p:extLst>
          </p:nvPr>
        </p:nvGraphicFramePr>
        <p:xfrm>
          <a:off x="653143" y="881743"/>
          <a:ext cx="10951027" cy="5464626"/>
        </p:xfrm>
        <a:graphic>
          <a:graphicData uri="http://schemas.openxmlformats.org/drawingml/2006/table">
            <a:tbl>
              <a:tblPr firstRow="1" firstCol="1" bandRow="1">
                <a:tableStyleId>{5C22544A-7EE6-4342-B048-85BDC9FD1C3A}</a:tableStyleId>
              </a:tblPr>
              <a:tblGrid>
                <a:gridCol w="2007507">
                  <a:extLst>
                    <a:ext uri="{9D8B030D-6E8A-4147-A177-3AD203B41FA5}">
                      <a16:colId xmlns:a16="http://schemas.microsoft.com/office/drawing/2014/main" val="4255250356"/>
                    </a:ext>
                  </a:extLst>
                </a:gridCol>
                <a:gridCol w="2558730">
                  <a:extLst>
                    <a:ext uri="{9D8B030D-6E8A-4147-A177-3AD203B41FA5}">
                      <a16:colId xmlns:a16="http://schemas.microsoft.com/office/drawing/2014/main" val="2190562765"/>
                    </a:ext>
                  </a:extLst>
                </a:gridCol>
                <a:gridCol w="1632003">
                  <a:extLst>
                    <a:ext uri="{9D8B030D-6E8A-4147-A177-3AD203B41FA5}">
                      <a16:colId xmlns:a16="http://schemas.microsoft.com/office/drawing/2014/main" val="1043051578"/>
                    </a:ext>
                  </a:extLst>
                </a:gridCol>
                <a:gridCol w="2729632">
                  <a:extLst>
                    <a:ext uri="{9D8B030D-6E8A-4147-A177-3AD203B41FA5}">
                      <a16:colId xmlns:a16="http://schemas.microsoft.com/office/drawing/2014/main" val="941730586"/>
                    </a:ext>
                  </a:extLst>
                </a:gridCol>
                <a:gridCol w="2023155">
                  <a:extLst>
                    <a:ext uri="{9D8B030D-6E8A-4147-A177-3AD203B41FA5}">
                      <a16:colId xmlns:a16="http://schemas.microsoft.com/office/drawing/2014/main" val="4057768566"/>
                    </a:ext>
                  </a:extLst>
                </a:gridCol>
              </a:tblGrid>
              <a:tr h="535644">
                <a:tc>
                  <a:txBody>
                    <a:bodyPr/>
                    <a:lstStyle/>
                    <a:p>
                      <a:pPr>
                        <a:lnSpc>
                          <a:spcPct val="115000"/>
                        </a:lnSpc>
                        <a:spcBef>
                          <a:spcPts val="365"/>
                        </a:spcBef>
                        <a:spcAft>
                          <a:spcPts val="0"/>
                        </a:spcAft>
                        <a:tabLst>
                          <a:tab pos="287020" algn="l"/>
                        </a:tabLst>
                      </a:pPr>
                      <a:r>
                        <a:rPr lang="en-US" sz="1800" dirty="0">
                          <a:effectLst/>
                        </a:rPr>
                        <a:t>KPI Name</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solidFill>
                      <a:schemeClr val="accent5"/>
                    </a:solidFill>
                  </a:tcPr>
                </a:tc>
                <a:tc>
                  <a:txBody>
                    <a:bodyPr/>
                    <a:lstStyle/>
                    <a:p>
                      <a:pPr>
                        <a:lnSpc>
                          <a:spcPct val="115000"/>
                        </a:lnSpc>
                        <a:spcBef>
                          <a:spcPts val="365"/>
                        </a:spcBef>
                        <a:spcAft>
                          <a:spcPts val="0"/>
                        </a:spcAft>
                        <a:tabLst>
                          <a:tab pos="287020" algn="l"/>
                        </a:tabLst>
                      </a:pPr>
                      <a:r>
                        <a:rPr lang="en-US" sz="1800" dirty="0">
                          <a:effectLst/>
                        </a:rPr>
                        <a:t>Definition</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solidFill>
                      <a:schemeClr val="accent5"/>
                    </a:solidFill>
                  </a:tcPr>
                </a:tc>
                <a:tc>
                  <a:txBody>
                    <a:bodyPr/>
                    <a:lstStyle/>
                    <a:p>
                      <a:pPr>
                        <a:lnSpc>
                          <a:spcPct val="115000"/>
                        </a:lnSpc>
                        <a:spcBef>
                          <a:spcPts val="365"/>
                        </a:spcBef>
                        <a:spcAft>
                          <a:spcPts val="0"/>
                        </a:spcAft>
                        <a:tabLst>
                          <a:tab pos="287020" algn="l"/>
                        </a:tabLst>
                      </a:pPr>
                      <a:r>
                        <a:rPr lang="en-US" sz="1800" dirty="0">
                          <a:effectLst/>
                        </a:rPr>
                        <a:t>Formula</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solidFill>
                      <a:schemeClr val="accent5"/>
                    </a:solidFill>
                  </a:tcPr>
                </a:tc>
                <a:tc>
                  <a:txBody>
                    <a:bodyPr/>
                    <a:lstStyle/>
                    <a:p>
                      <a:pPr>
                        <a:lnSpc>
                          <a:spcPct val="115000"/>
                        </a:lnSpc>
                        <a:spcBef>
                          <a:spcPts val="365"/>
                        </a:spcBef>
                        <a:spcAft>
                          <a:spcPts val="0"/>
                        </a:spcAft>
                        <a:tabLst>
                          <a:tab pos="287020" algn="l"/>
                        </a:tabLst>
                      </a:pPr>
                      <a:r>
                        <a:rPr lang="en-US" sz="1800" dirty="0">
                          <a:effectLst/>
                        </a:rPr>
                        <a:t>Why It Matters</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solidFill>
                      <a:schemeClr val="accent5"/>
                    </a:solidFill>
                  </a:tcPr>
                </a:tc>
                <a:tc>
                  <a:txBody>
                    <a:bodyPr/>
                    <a:lstStyle/>
                    <a:p>
                      <a:pPr>
                        <a:lnSpc>
                          <a:spcPct val="115000"/>
                        </a:lnSpc>
                        <a:spcBef>
                          <a:spcPts val="365"/>
                        </a:spcBef>
                        <a:spcAft>
                          <a:spcPts val="0"/>
                        </a:spcAft>
                        <a:tabLst>
                          <a:tab pos="287020" algn="l"/>
                        </a:tabLst>
                      </a:pPr>
                      <a:r>
                        <a:rPr lang="en-US" sz="1800" dirty="0">
                          <a:effectLst/>
                        </a:rPr>
                        <a:t>Target Benchmark</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solidFill>
                      <a:schemeClr val="accent5"/>
                    </a:solidFill>
                  </a:tcPr>
                </a:tc>
                <a:extLst>
                  <a:ext uri="{0D108BD9-81ED-4DB2-BD59-A6C34878D82A}">
                    <a16:rowId xmlns:a16="http://schemas.microsoft.com/office/drawing/2014/main" val="2385281845"/>
                  </a:ext>
                </a:extLst>
              </a:tr>
              <a:tr h="1365769">
                <a:tc>
                  <a:txBody>
                    <a:bodyPr/>
                    <a:lstStyle/>
                    <a:p>
                      <a:pPr>
                        <a:lnSpc>
                          <a:spcPct val="115000"/>
                        </a:lnSpc>
                        <a:spcBef>
                          <a:spcPts val="365"/>
                        </a:spcBef>
                        <a:spcAft>
                          <a:spcPts val="0"/>
                        </a:spcAft>
                        <a:tabLst>
                          <a:tab pos="287020" algn="l"/>
                        </a:tabLst>
                      </a:pPr>
                      <a:r>
                        <a:rPr lang="en-US" sz="1800" dirty="0">
                          <a:effectLst/>
                        </a:rPr>
                        <a:t>Automation Success Rate (%)</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solidFill>
                      <a:schemeClr val="accent5"/>
                    </a:solidFill>
                  </a:tcPr>
                </a:tc>
                <a:tc>
                  <a:txBody>
                    <a:bodyPr/>
                    <a:lstStyle/>
                    <a:p>
                      <a:pPr>
                        <a:lnSpc>
                          <a:spcPct val="115000"/>
                        </a:lnSpc>
                        <a:spcBef>
                          <a:spcPts val="365"/>
                        </a:spcBef>
                        <a:spcAft>
                          <a:spcPts val="0"/>
                        </a:spcAft>
                        <a:tabLst>
                          <a:tab pos="287020" algn="l"/>
                        </a:tabLst>
                      </a:pPr>
                      <a:r>
                        <a:rPr lang="en-US" sz="1800">
                          <a:effectLst/>
                        </a:rPr>
                        <a:t>Percentage of scenarios that worked well without any issues</a:t>
                      </a:r>
                      <a:endParaRPr lang="en-IN"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Bef>
                          <a:spcPts val="365"/>
                        </a:spcBef>
                        <a:spcAft>
                          <a:spcPts val="0"/>
                        </a:spcAft>
                        <a:tabLst>
                          <a:tab pos="287020" algn="l"/>
                        </a:tabLst>
                      </a:pPr>
                      <a:r>
                        <a:rPr lang="en-US" sz="1800">
                          <a:effectLst/>
                        </a:rPr>
                        <a:t>(Successful Scenarios / Total Scenarios) × 100</a:t>
                      </a:r>
                      <a:endParaRPr lang="en-IN"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Bef>
                          <a:spcPts val="365"/>
                        </a:spcBef>
                        <a:spcAft>
                          <a:spcPts val="0"/>
                        </a:spcAft>
                        <a:tabLst>
                          <a:tab pos="287020" algn="l"/>
                        </a:tabLst>
                      </a:pPr>
                      <a:r>
                        <a:rPr lang="en-US" sz="1800">
                          <a:effectLst/>
                        </a:rPr>
                        <a:t>Measures how well the multi-agent system works overall.</a:t>
                      </a:r>
                      <a:endParaRPr lang="en-IN"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Bef>
                          <a:spcPts val="750"/>
                        </a:spcBef>
                      </a:pPr>
                      <a:r>
                        <a:rPr lang="en-IN" sz="1800">
                          <a:effectLst/>
                        </a:rPr>
                        <a:t>90%+</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5059130"/>
                  </a:ext>
                </a:extLst>
              </a:tr>
              <a:tr h="1642478">
                <a:tc>
                  <a:txBody>
                    <a:bodyPr/>
                    <a:lstStyle/>
                    <a:p>
                      <a:pPr>
                        <a:lnSpc>
                          <a:spcPct val="115000"/>
                        </a:lnSpc>
                        <a:spcBef>
                          <a:spcPts val="365"/>
                        </a:spcBef>
                        <a:spcAft>
                          <a:spcPts val="0"/>
                        </a:spcAft>
                        <a:tabLst>
                          <a:tab pos="287020" algn="l"/>
                        </a:tabLst>
                      </a:pPr>
                      <a:r>
                        <a:rPr lang="en-US" sz="1800" dirty="0">
                          <a:effectLst/>
                        </a:rPr>
                        <a:t>Execution Time Reduction (%)</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solidFill>
                      <a:schemeClr val="accent5"/>
                    </a:solidFill>
                  </a:tcPr>
                </a:tc>
                <a:tc>
                  <a:txBody>
                    <a:bodyPr/>
                    <a:lstStyle/>
                    <a:p>
                      <a:pPr>
                        <a:lnSpc>
                          <a:spcPct val="115000"/>
                        </a:lnSpc>
                        <a:spcBef>
                          <a:spcPts val="365"/>
                        </a:spcBef>
                        <a:spcAft>
                          <a:spcPts val="0"/>
                        </a:spcAft>
                        <a:tabLst>
                          <a:tab pos="287020" algn="l"/>
                        </a:tabLst>
                      </a:pPr>
                      <a:r>
                        <a:rPr lang="en-US" sz="1800" dirty="0">
                          <a:effectLst/>
                        </a:rPr>
                        <a:t>How faster it got done compared to old automation ways</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Bef>
                          <a:spcPts val="365"/>
                        </a:spcBef>
                        <a:spcAft>
                          <a:spcPts val="0"/>
                        </a:spcAft>
                        <a:tabLst>
                          <a:tab pos="287020" algn="l"/>
                        </a:tabLst>
                      </a:pPr>
                      <a:r>
                        <a:rPr lang="en-US" sz="1800">
                          <a:effectLst/>
                        </a:rPr>
                        <a:t>((Manual Time − Agent Time) / Manual Time) × 100</a:t>
                      </a:r>
                      <a:endParaRPr lang="en-IN"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Bef>
                          <a:spcPts val="365"/>
                        </a:spcBef>
                        <a:spcAft>
                          <a:spcPts val="0"/>
                        </a:spcAft>
                        <a:tabLst>
                          <a:tab pos="287020" algn="l"/>
                        </a:tabLst>
                      </a:pPr>
                      <a:r>
                        <a:rPr lang="en-US" sz="1800" dirty="0">
                          <a:effectLst/>
                        </a:rPr>
                        <a:t>It helps tasks and makes sure everything runs smoothly.</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Bef>
                          <a:spcPts val="365"/>
                        </a:spcBef>
                        <a:spcAft>
                          <a:spcPts val="0"/>
                        </a:spcAft>
                        <a:tabLst>
                          <a:tab pos="287020" algn="l"/>
                        </a:tabLst>
                      </a:pPr>
                      <a:r>
                        <a:rPr lang="en-US" sz="1800">
                          <a:effectLst/>
                        </a:rPr>
                        <a:t>30–40% faster</a:t>
                      </a:r>
                      <a:endParaRPr lang="en-IN"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2129372"/>
                  </a:ext>
                </a:extLst>
              </a:tr>
              <a:tr h="1920735">
                <a:tc>
                  <a:txBody>
                    <a:bodyPr/>
                    <a:lstStyle/>
                    <a:p>
                      <a:pPr>
                        <a:lnSpc>
                          <a:spcPct val="115000"/>
                        </a:lnSpc>
                        <a:spcBef>
                          <a:spcPts val="365"/>
                        </a:spcBef>
                        <a:spcAft>
                          <a:spcPts val="0"/>
                        </a:spcAft>
                        <a:tabLst>
                          <a:tab pos="287020" algn="l"/>
                        </a:tabLst>
                      </a:pPr>
                      <a:r>
                        <a:rPr lang="en-US" sz="1800" dirty="0">
                          <a:effectLst/>
                        </a:rPr>
                        <a:t>Task Completion Accuracy (%)</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solidFill>
                      <a:schemeClr val="accent5"/>
                    </a:solidFill>
                  </a:tcPr>
                </a:tc>
                <a:tc>
                  <a:txBody>
                    <a:bodyPr/>
                    <a:lstStyle/>
                    <a:p>
                      <a:pPr>
                        <a:lnSpc>
                          <a:spcPct val="115000"/>
                        </a:lnSpc>
                        <a:spcBef>
                          <a:spcPts val="365"/>
                        </a:spcBef>
                        <a:spcAft>
                          <a:spcPts val="0"/>
                        </a:spcAft>
                        <a:tabLst>
                          <a:tab pos="287020" algn="l"/>
                        </a:tabLst>
                      </a:pPr>
                      <a:r>
                        <a:rPr lang="en-US" sz="1800" dirty="0">
                          <a:effectLst/>
                        </a:rPr>
                        <a:t>Percentage of tasks done right with results as expected</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Bef>
                          <a:spcPts val="365"/>
                        </a:spcBef>
                        <a:spcAft>
                          <a:spcPts val="0"/>
                        </a:spcAft>
                        <a:tabLst>
                          <a:tab pos="287020" algn="l"/>
                        </a:tabLst>
                      </a:pPr>
                      <a:r>
                        <a:rPr lang="en-US" sz="1800" dirty="0">
                          <a:effectLst/>
                        </a:rPr>
                        <a:t>(Correct Task Outcomes / Total Tasks) × 100</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Bef>
                          <a:spcPts val="750"/>
                        </a:spcBef>
                      </a:pPr>
                      <a:r>
                        <a:rPr lang="en-IN" sz="1800" dirty="0">
                          <a:effectLst/>
                        </a:rPr>
                        <a:t>Ensures the outputs are correct This includes things like: UI actions, DB validation, API responses, reporting are all accurate.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365"/>
                        </a:spcBef>
                        <a:spcAft>
                          <a:spcPts val="0"/>
                        </a:spcAft>
                        <a:tabLst>
                          <a:tab pos="287020" algn="l"/>
                        </a:tabLst>
                      </a:pPr>
                      <a:r>
                        <a:rPr lang="en-US" sz="1800" dirty="0">
                          <a:effectLst/>
                        </a:rPr>
                        <a:t>95%+</a:t>
                      </a:r>
                      <a:endParaRPr lang="en-IN"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89407227"/>
                  </a:ext>
                </a:extLst>
              </a:tr>
            </a:tbl>
          </a:graphicData>
        </a:graphic>
      </p:graphicFrame>
      <p:sp>
        <p:nvSpPr>
          <p:cNvPr id="2" name="TextBox 1">
            <a:extLst>
              <a:ext uri="{FF2B5EF4-FFF2-40B4-BE49-F238E27FC236}">
                <a16:creationId xmlns:a16="http://schemas.microsoft.com/office/drawing/2014/main" id="{A32B4248-C847-4171-96B3-E6DAA38DCBF1}"/>
              </a:ext>
            </a:extLst>
          </p:cNvPr>
          <p:cNvSpPr txBox="1"/>
          <p:nvPr/>
        </p:nvSpPr>
        <p:spPr>
          <a:xfrm>
            <a:off x="653143" y="311576"/>
            <a:ext cx="9009331" cy="400110"/>
          </a:xfrm>
          <a:prstGeom prst="rect">
            <a:avLst/>
          </a:prstGeom>
          <a:noFill/>
        </p:spPr>
        <p:txBody>
          <a:bodyPr wrap="square" rtlCol="0">
            <a:spAutoFit/>
          </a:bodyPr>
          <a:lstStyle/>
          <a:p>
            <a:r>
              <a:rPr lang="en-US" sz="2000" b="1" dirty="0">
                <a:latin typeface="+mj-lt"/>
                <a:ea typeface="+mj-ea"/>
                <a:cs typeface="+mj-cs"/>
              </a:rPr>
              <a:t>KPI Agentic AI Automation Framework</a:t>
            </a:r>
            <a:endParaRPr lang="en-IN" sz="2000" b="1" dirty="0">
              <a:latin typeface="+mj-lt"/>
              <a:ea typeface="+mj-ea"/>
              <a:cs typeface="+mj-cs"/>
            </a:endParaRPr>
          </a:p>
        </p:txBody>
      </p:sp>
    </p:spTree>
    <p:extLst>
      <p:ext uri="{BB962C8B-B14F-4D97-AF65-F5344CB8AC3E}">
        <p14:creationId xmlns:p14="http://schemas.microsoft.com/office/powerpoint/2010/main" val="561829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A7C0F8-FF73-42C8-88E5-186FDE21DE05}"/>
              </a:ext>
            </a:extLst>
          </p:cNvPr>
          <p:cNvSpPr>
            <a:spLocks noGrp="1"/>
          </p:cNvSpPr>
          <p:nvPr>
            <p:ph type="title"/>
          </p:nvPr>
        </p:nvSpPr>
        <p:spPr>
          <a:xfrm>
            <a:off x="838200" y="365126"/>
            <a:ext cx="10515600" cy="700104"/>
          </a:xfrm>
        </p:spPr>
        <p:txBody>
          <a:bodyPr>
            <a:normAutofit/>
          </a:bodyPr>
          <a:lstStyle/>
          <a:p>
            <a:r>
              <a:rPr lang="en-US" sz="2800" dirty="0"/>
              <a:t>Drawbacks of Agentic Automation</a:t>
            </a:r>
            <a:endParaRPr lang="en-IN" sz="2800" dirty="0"/>
          </a:p>
        </p:txBody>
      </p:sp>
      <p:sp>
        <p:nvSpPr>
          <p:cNvPr id="5" name="Rectangle 2">
            <a:extLst>
              <a:ext uri="{FF2B5EF4-FFF2-40B4-BE49-F238E27FC236}">
                <a16:creationId xmlns:a16="http://schemas.microsoft.com/office/drawing/2014/main" id="{2115A8D6-EE28-4BE1-988C-350BA08BF05B}"/>
              </a:ext>
            </a:extLst>
          </p:cNvPr>
          <p:cNvSpPr>
            <a:spLocks noGrp="1" noChangeArrowheads="1"/>
          </p:cNvSpPr>
          <p:nvPr>
            <p:ph idx="1"/>
          </p:nvPr>
        </p:nvSpPr>
        <p:spPr bwMode="auto">
          <a:xfrm>
            <a:off x="838200" y="1376382"/>
            <a:ext cx="10134599"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lang="en-US" altLang="en-US" sz="2000" dirty="0"/>
              <a:t>The framework heavily depends on LLM accuracy, making behavior non-deterministic and sometimes unreliable. </a:t>
            </a:r>
          </a:p>
          <a:p>
            <a:pPr eaLnBrk="0" fontAlgn="base" hangingPunct="0">
              <a:lnSpc>
                <a:spcPct val="100000"/>
              </a:lnSpc>
              <a:spcBef>
                <a:spcPct val="0"/>
              </a:spcBef>
              <a:spcAft>
                <a:spcPct val="0"/>
              </a:spcAft>
            </a:pPr>
            <a:r>
              <a:rPr lang="en-US" altLang="en-US" sz="2000" dirty="0"/>
              <a:t>Multi-agent workflows increase API usage and token consumption, leading to higher operational costs. </a:t>
            </a:r>
          </a:p>
          <a:p>
            <a:pPr eaLnBrk="0" fontAlgn="base" hangingPunct="0">
              <a:lnSpc>
                <a:spcPct val="100000"/>
              </a:lnSpc>
              <a:spcBef>
                <a:spcPct val="0"/>
              </a:spcBef>
              <a:spcAft>
                <a:spcPct val="0"/>
              </a:spcAft>
            </a:pPr>
            <a:r>
              <a:rPr lang="en-US" altLang="en-US" sz="2000" dirty="0"/>
              <a:t>Execution can be slower due to multiple steps like reasoning, tool selection, and MCP interactions. </a:t>
            </a:r>
          </a:p>
          <a:p>
            <a:pPr eaLnBrk="0" fontAlgn="base" hangingPunct="0">
              <a:lnSpc>
                <a:spcPct val="100000"/>
              </a:lnSpc>
              <a:spcBef>
                <a:spcPct val="0"/>
              </a:spcBef>
              <a:spcAft>
                <a:spcPct val="0"/>
              </a:spcAft>
            </a:pPr>
            <a:r>
              <a:rPr lang="en-US" altLang="en-US" sz="2000" dirty="0"/>
              <a:t>Debugging is complex because decisions are AI-driven and failures can occur across multiple agents. </a:t>
            </a:r>
          </a:p>
          <a:p>
            <a:pPr eaLnBrk="0" fontAlgn="base" hangingPunct="0">
              <a:lnSpc>
                <a:spcPct val="100000"/>
              </a:lnSpc>
              <a:spcBef>
                <a:spcPct val="0"/>
              </a:spcBef>
              <a:spcAft>
                <a:spcPct val="0"/>
              </a:spcAft>
            </a:pPr>
            <a:r>
              <a:rPr lang="en-US" altLang="en-US" sz="2000" dirty="0"/>
              <a:t>There are security risks when agents interact with real systems like databases, APIs, and file systems without strict controls. </a:t>
            </a:r>
          </a:p>
        </p:txBody>
      </p:sp>
    </p:spTree>
    <p:extLst>
      <p:ext uri="{BB962C8B-B14F-4D97-AF65-F5344CB8AC3E}">
        <p14:creationId xmlns:p14="http://schemas.microsoft.com/office/powerpoint/2010/main" val="1553644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6DC1F7-47D1-46DD-8F5B-45062D26C5D6}"/>
              </a:ext>
            </a:extLst>
          </p:cNvPr>
          <p:cNvSpPr/>
          <p:nvPr/>
        </p:nvSpPr>
        <p:spPr>
          <a:xfrm>
            <a:off x="254525" y="0"/>
            <a:ext cx="11717516" cy="6463308"/>
          </a:xfrm>
          <a:prstGeom prst="rect">
            <a:avLst/>
          </a:prstGeom>
        </p:spPr>
        <p:txBody>
          <a:bodyPr wrap="square">
            <a:spAutoFit/>
          </a:bodyPr>
          <a:lstStyle/>
          <a:p>
            <a:r>
              <a:rPr lang="en-IN" b="1" dirty="0" err="1"/>
              <a:t>MNPAgenticAIAutomation</a:t>
            </a:r>
            <a:r>
              <a:rPr lang="en-IN" dirty="0"/>
              <a:t>/      </a:t>
            </a:r>
            <a:r>
              <a:rPr lang="en-IN" b="1" u="sng" dirty="0">
                <a:solidFill>
                  <a:srgbClr val="002060"/>
                </a:solidFill>
              </a:rPr>
              <a:t>Framework Tool Core Files &amp; Folders (To be Developed)</a:t>
            </a:r>
          </a:p>
          <a:p>
            <a:r>
              <a:rPr lang="en-IN" dirty="0">
                <a:solidFill>
                  <a:srgbClr val="002060"/>
                </a:solidFill>
              </a:rPr>
              <a:t>├ config/                                                             </a:t>
            </a:r>
          </a:p>
          <a:p>
            <a:r>
              <a:rPr lang="en-IN" dirty="0">
                <a:solidFill>
                  <a:srgbClr val="002060"/>
                </a:solidFill>
              </a:rPr>
              <a:t>    └── </a:t>
            </a:r>
            <a:r>
              <a:rPr lang="en-IN" dirty="0" err="1">
                <a:solidFill>
                  <a:srgbClr val="002060"/>
                </a:solidFill>
              </a:rPr>
              <a:t>config.properties</a:t>
            </a:r>
            <a:r>
              <a:rPr lang="en-IN" dirty="0"/>
              <a:t>	# </a:t>
            </a:r>
            <a:r>
              <a:rPr lang="en-US" dirty="0"/>
              <a:t>Central key-value file for credentials, URLs, and browser settings.</a:t>
            </a:r>
            <a:endParaRPr lang="en-IN" dirty="0"/>
          </a:p>
          <a:p>
            <a:r>
              <a:rPr lang="en-IN" dirty="0">
                <a:solidFill>
                  <a:srgbClr val="002060"/>
                </a:solidFill>
              </a:rPr>
              <a:t>├ Data/</a:t>
            </a:r>
          </a:p>
          <a:p>
            <a:r>
              <a:rPr lang="en-IN" dirty="0">
                <a:solidFill>
                  <a:srgbClr val="002060"/>
                </a:solidFill>
              </a:rPr>
              <a:t>    └── files/    </a:t>
            </a:r>
            <a:r>
              <a:rPr lang="en-IN" dirty="0"/>
              <a:t>		</a:t>
            </a:r>
            <a:r>
              <a:rPr lang="en-US" dirty="0"/>
              <a:t># If required, Repository for input test data like Excel sheets, CSVs, or text files.</a:t>
            </a:r>
            <a:endParaRPr lang="en-IN" dirty="0"/>
          </a:p>
          <a:p>
            <a:r>
              <a:rPr lang="en-IN" dirty="0">
                <a:solidFill>
                  <a:srgbClr val="002060"/>
                </a:solidFill>
              </a:rPr>
              <a:t>├ framework/</a:t>
            </a:r>
          </a:p>
          <a:p>
            <a:r>
              <a:rPr lang="en-IN" dirty="0">
                <a:solidFill>
                  <a:srgbClr val="002060"/>
                </a:solidFill>
              </a:rPr>
              <a:t>    ├ </a:t>
            </a:r>
            <a:r>
              <a:rPr lang="en-IN" dirty="0" err="1">
                <a:solidFill>
                  <a:srgbClr val="002060"/>
                </a:solidFill>
              </a:rPr>
              <a:t>agentfactory</a:t>
            </a:r>
            <a:r>
              <a:rPr lang="en-IN" dirty="0">
                <a:solidFill>
                  <a:srgbClr val="002060"/>
                </a:solidFill>
              </a:rPr>
              <a:t>/</a:t>
            </a:r>
          </a:p>
          <a:p>
            <a:r>
              <a:rPr lang="en-IN" dirty="0">
                <a:solidFill>
                  <a:srgbClr val="002060"/>
                </a:solidFill>
              </a:rPr>
              <a:t>    │   └── agentFactory.py</a:t>
            </a:r>
            <a:r>
              <a:rPr lang="en-IN" dirty="0"/>
              <a:t>	</a:t>
            </a:r>
            <a:r>
              <a:rPr lang="en-US" dirty="0"/>
              <a:t># Factory that instantiates specialized agents (UI, DB, API etc.) with pre-configured tools.</a:t>
            </a:r>
            <a:endParaRPr lang="en-IN" dirty="0"/>
          </a:p>
          <a:p>
            <a:r>
              <a:rPr lang="en-IN" dirty="0">
                <a:solidFill>
                  <a:srgbClr val="002060"/>
                </a:solidFill>
              </a:rPr>
              <a:t>    └── </a:t>
            </a:r>
            <a:r>
              <a:rPr lang="en-IN" dirty="0" err="1">
                <a:solidFill>
                  <a:srgbClr val="002060"/>
                </a:solidFill>
              </a:rPr>
              <a:t>mcp_config</a:t>
            </a:r>
            <a:r>
              <a:rPr lang="en-IN" dirty="0">
                <a:solidFill>
                  <a:srgbClr val="002060"/>
                </a:solidFill>
              </a:rPr>
              <a:t>/</a:t>
            </a:r>
          </a:p>
          <a:p>
            <a:r>
              <a:rPr lang="en-IN" dirty="0">
                <a:solidFill>
                  <a:srgbClr val="002060"/>
                </a:solidFill>
              </a:rPr>
              <a:t>         └── mcp_config.py</a:t>
            </a:r>
            <a:r>
              <a:rPr lang="en-IN" dirty="0"/>
              <a:t>	</a:t>
            </a:r>
            <a:r>
              <a:rPr lang="en-US" dirty="0"/>
              <a:t># Manages the connection and lifecycle of MCP workbenches (Playwright, </a:t>
            </a:r>
            <a:r>
              <a:rPr lang="en-US" dirty="0" err="1"/>
              <a:t>postgres</a:t>
            </a:r>
            <a:r>
              <a:rPr lang="en-US" dirty="0"/>
              <a:t>, </a:t>
            </a:r>
            <a:r>
              <a:rPr lang="en-US" dirty="0" err="1"/>
              <a:t>api</a:t>
            </a:r>
            <a:r>
              <a:rPr lang="en-US" dirty="0"/>
              <a:t> etc.).</a:t>
            </a:r>
          </a:p>
          <a:p>
            <a:endParaRPr lang="en-IN" dirty="0"/>
          </a:p>
          <a:p>
            <a:r>
              <a:rPr lang="en-IN" dirty="0">
                <a:solidFill>
                  <a:srgbClr val="002060"/>
                </a:solidFill>
              </a:rPr>
              <a:t>├ libs/</a:t>
            </a:r>
          </a:p>
          <a:p>
            <a:r>
              <a:rPr lang="en-IN" dirty="0">
                <a:solidFill>
                  <a:srgbClr val="002060"/>
                </a:solidFill>
              </a:rPr>
              <a:t>    ├  config_reader.py</a:t>
            </a:r>
            <a:r>
              <a:rPr lang="en-IN" dirty="0"/>
              <a:t>	</a:t>
            </a:r>
            <a:r>
              <a:rPr lang="en-US" dirty="0"/>
              <a:t># Logic for parsing property files and mapping them to environment variables.</a:t>
            </a:r>
            <a:endParaRPr lang="en-IN" dirty="0"/>
          </a:p>
          <a:p>
            <a:r>
              <a:rPr lang="en-IN" dirty="0">
                <a:solidFill>
                  <a:srgbClr val="002060"/>
                </a:solidFill>
              </a:rPr>
              <a:t>    ├ report_manager.py</a:t>
            </a:r>
            <a:r>
              <a:rPr lang="en-IN" dirty="0"/>
              <a:t>	</a:t>
            </a:r>
            <a:r>
              <a:rPr lang="en-US" dirty="0"/>
              <a:t># High-level wrapper that automates scenario execution, error handling, and reporting.</a:t>
            </a:r>
            <a:endParaRPr lang="en-IN" dirty="0"/>
          </a:p>
          <a:p>
            <a:r>
              <a:rPr lang="en-IN" dirty="0">
                <a:solidFill>
                  <a:srgbClr val="002060"/>
                </a:solidFill>
              </a:rPr>
              <a:t>    ├ reporter.py	</a:t>
            </a:r>
            <a:r>
              <a:rPr lang="en-IN" dirty="0"/>
              <a:t>	</a:t>
            </a:r>
            <a:r>
              <a:rPr lang="en-US" dirty="0"/>
              <a:t># Engine responsible for generating HTML reports for both individual tests and the full suite.</a:t>
            </a:r>
            <a:endParaRPr lang="en-IN" dirty="0"/>
          </a:p>
          <a:p>
            <a:r>
              <a:rPr lang="en-IN" dirty="0">
                <a:solidFill>
                  <a:srgbClr val="002060"/>
                </a:solidFill>
              </a:rPr>
              <a:t>    └  screenshot_tool.py</a:t>
            </a:r>
            <a:r>
              <a:rPr lang="en-IN" dirty="0"/>
              <a:t>	</a:t>
            </a:r>
            <a:r>
              <a:rPr lang="en-US" dirty="0"/>
              <a:t># Standardizes naming and path generation for browser screenshots.</a:t>
            </a:r>
            <a:endParaRPr lang="en-IN" dirty="0"/>
          </a:p>
          <a:p>
            <a:r>
              <a:rPr lang="en-IN" dirty="0">
                <a:solidFill>
                  <a:srgbClr val="002060"/>
                </a:solidFill>
              </a:rPr>
              <a:t>├ reports/</a:t>
            </a:r>
          </a:p>
          <a:p>
            <a:r>
              <a:rPr lang="en-IN" dirty="0">
                <a:solidFill>
                  <a:srgbClr val="002060"/>
                </a:solidFill>
              </a:rPr>
              <a:t>    ├ result/</a:t>
            </a:r>
            <a:r>
              <a:rPr lang="en-IN" dirty="0"/>
              <a:t>		</a:t>
            </a:r>
            <a:r>
              <a:rPr lang="en-US" dirty="0"/>
              <a:t># Final destination for generated individual and suite-level HTML reports.</a:t>
            </a:r>
            <a:endParaRPr lang="en-IN" dirty="0"/>
          </a:p>
          <a:p>
            <a:r>
              <a:rPr lang="en-IN" dirty="0">
                <a:solidFill>
                  <a:srgbClr val="002060"/>
                </a:solidFill>
              </a:rPr>
              <a:t>    └- Screenshots/	</a:t>
            </a:r>
            <a:r>
              <a:rPr lang="en-IN" dirty="0"/>
              <a:t>	#</a:t>
            </a:r>
            <a:r>
              <a:rPr lang="en-US" dirty="0"/>
              <a:t> Storage for all image evidence captured during UI automation.</a:t>
            </a:r>
            <a:endParaRPr lang="en-IN" dirty="0"/>
          </a:p>
          <a:p>
            <a:r>
              <a:rPr lang="en-IN" dirty="0">
                <a:solidFill>
                  <a:srgbClr val="002060"/>
                </a:solidFill>
              </a:rPr>
              <a:t>├ scenarios/</a:t>
            </a:r>
          </a:p>
          <a:p>
            <a:r>
              <a:rPr lang="en-IN" dirty="0">
                <a:solidFill>
                  <a:srgbClr val="002060"/>
                </a:solidFill>
              </a:rPr>
              <a:t>    ├ scenario_01_test.py</a:t>
            </a:r>
            <a:r>
              <a:rPr lang="en-IN" dirty="0"/>
              <a:t>	</a:t>
            </a:r>
            <a:r>
              <a:rPr lang="en-US" dirty="0"/>
              <a:t># Contains the actual test scripts ("what" to automate) using the framework.</a:t>
            </a:r>
            <a:endParaRPr lang="en-IN" dirty="0"/>
          </a:p>
          <a:p>
            <a:r>
              <a:rPr lang="en-IN" dirty="0">
                <a:solidFill>
                  <a:srgbClr val="002060"/>
                </a:solidFill>
              </a:rPr>
              <a:t>├ requirements.txt</a:t>
            </a:r>
            <a:r>
              <a:rPr lang="en-IN" dirty="0"/>
              <a:t>		</a:t>
            </a:r>
            <a:r>
              <a:rPr lang="en-US" dirty="0"/>
              <a:t># List of all Python libraries needed to run the framework.</a:t>
            </a:r>
            <a:endParaRPr lang="en-IN" dirty="0"/>
          </a:p>
          <a:p>
            <a:r>
              <a:rPr lang="en-IN" dirty="0">
                <a:solidFill>
                  <a:srgbClr val="002060"/>
                </a:solidFill>
              </a:rPr>
              <a:t>├ run_suite.py</a:t>
            </a:r>
            <a:r>
              <a:rPr lang="en-IN" dirty="0"/>
              <a:t>		</a:t>
            </a:r>
            <a:r>
              <a:rPr lang="en-US" dirty="0"/>
              <a:t># The main execution engine that auto-discovers and runs all scenarios.</a:t>
            </a:r>
            <a:endParaRPr lang="en-IN" dirty="0"/>
          </a:p>
        </p:txBody>
      </p:sp>
    </p:spTree>
    <p:extLst>
      <p:ext uri="{BB962C8B-B14F-4D97-AF65-F5344CB8AC3E}">
        <p14:creationId xmlns:p14="http://schemas.microsoft.com/office/powerpoint/2010/main" val="2044529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4D3DE8D-1A97-4992-997B-B17B4F67AB57}"/>
              </a:ext>
            </a:extLst>
          </p:cNvPr>
          <p:cNvGraphicFramePr>
            <a:graphicFrameLocks noGrp="1"/>
          </p:cNvGraphicFramePr>
          <p:nvPr>
            <p:extLst>
              <p:ext uri="{D42A27DB-BD31-4B8C-83A1-F6EECF244321}">
                <p14:modId xmlns:p14="http://schemas.microsoft.com/office/powerpoint/2010/main" val="2707989778"/>
              </p:ext>
            </p:extLst>
          </p:nvPr>
        </p:nvGraphicFramePr>
        <p:xfrm>
          <a:off x="405352" y="666161"/>
          <a:ext cx="11528980" cy="6010978"/>
        </p:xfrm>
        <a:graphic>
          <a:graphicData uri="http://schemas.openxmlformats.org/drawingml/2006/table">
            <a:tbl>
              <a:tblPr firstRow="1" bandRow="1">
                <a:tableStyleId>{5C22544A-7EE6-4342-B048-85BDC9FD1C3A}</a:tableStyleId>
              </a:tblPr>
              <a:tblGrid>
                <a:gridCol w="732162">
                  <a:extLst>
                    <a:ext uri="{9D8B030D-6E8A-4147-A177-3AD203B41FA5}">
                      <a16:colId xmlns:a16="http://schemas.microsoft.com/office/drawing/2014/main" val="519914748"/>
                    </a:ext>
                  </a:extLst>
                </a:gridCol>
                <a:gridCol w="2199791">
                  <a:extLst>
                    <a:ext uri="{9D8B030D-6E8A-4147-A177-3AD203B41FA5}">
                      <a16:colId xmlns:a16="http://schemas.microsoft.com/office/drawing/2014/main" val="1580439228"/>
                    </a:ext>
                  </a:extLst>
                </a:gridCol>
                <a:gridCol w="5658068">
                  <a:extLst>
                    <a:ext uri="{9D8B030D-6E8A-4147-A177-3AD203B41FA5}">
                      <a16:colId xmlns:a16="http://schemas.microsoft.com/office/drawing/2014/main" val="3768932270"/>
                    </a:ext>
                  </a:extLst>
                </a:gridCol>
                <a:gridCol w="1845875">
                  <a:extLst>
                    <a:ext uri="{9D8B030D-6E8A-4147-A177-3AD203B41FA5}">
                      <a16:colId xmlns:a16="http://schemas.microsoft.com/office/drawing/2014/main" val="3767925434"/>
                    </a:ext>
                  </a:extLst>
                </a:gridCol>
                <a:gridCol w="1093084">
                  <a:extLst>
                    <a:ext uri="{9D8B030D-6E8A-4147-A177-3AD203B41FA5}">
                      <a16:colId xmlns:a16="http://schemas.microsoft.com/office/drawing/2014/main" val="802230218"/>
                    </a:ext>
                  </a:extLst>
                </a:gridCol>
              </a:tblGrid>
              <a:tr h="559062">
                <a:tc>
                  <a:txBody>
                    <a:bodyPr/>
                    <a:lstStyle/>
                    <a:p>
                      <a:pPr algn="ctr"/>
                      <a:r>
                        <a:rPr lang="en-US" sz="1600" dirty="0"/>
                        <a:t>S. No.</a:t>
                      </a:r>
                      <a:endParaRPr lang="en-IN" sz="1600" dirty="0"/>
                    </a:p>
                  </a:txBody>
                  <a:tcPr/>
                </a:tc>
                <a:tc>
                  <a:txBody>
                    <a:bodyPr/>
                    <a:lstStyle/>
                    <a:p>
                      <a:pPr algn="ctr"/>
                      <a:r>
                        <a:rPr lang="en-US" sz="1600" dirty="0"/>
                        <a:t>Phases</a:t>
                      </a:r>
                      <a:endParaRPr lang="en-IN" sz="1600" dirty="0"/>
                    </a:p>
                  </a:txBody>
                  <a:tcPr/>
                </a:tc>
                <a:tc>
                  <a:txBody>
                    <a:bodyPr/>
                    <a:lstStyle/>
                    <a:p>
                      <a:pPr algn="ctr"/>
                      <a:r>
                        <a:rPr lang="en-US" sz="1600" dirty="0"/>
                        <a:t>Work to be done</a:t>
                      </a:r>
                      <a:endParaRPr lang="en-IN" sz="1600" dirty="0"/>
                    </a:p>
                  </a:txBody>
                  <a:tcPr/>
                </a:tc>
                <a:tc>
                  <a:txBody>
                    <a:bodyPr/>
                    <a:lstStyle/>
                    <a:p>
                      <a:pPr algn="ctr"/>
                      <a:r>
                        <a:rPr lang="en-US" sz="1600" dirty="0"/>
                        <a:t>Start – End date</a:t>
                      </a:r>
                    </a:p>
                    <a:p>
                      <a:pPr algn="ctr"/>
                      <a:r>
                        <a:rPr lang="en-US" sz="1600" dirty="0"/>
                        <a:t>(3-4hrs/day)</a:t>
                      </a:r>
                      <a:endParaRPr lang="en-IN" sz="1600" dirty="0"/>
                    </a:p>
                  </a:txBody>
                  <a:tcPr/>
                </a:tc>
                <a:tc>
                  <a:txBody>
                    <a:bodyPr/>
                    <a:lstStyle/>
                    <a:p>
                      <a:pPr algn="ctr"/>
                      <a:r>
                        <a:rPr lang="en-US" sz="1600" dirty="0"/>
                        <a:t>Status</a:t>
                      </a:r>
                      <a:endParaRPr lang="en-IN" sz="1600" dirty="0"/>
                    </a:p>
                  </a:txBody>
                  <a:tcPr/>
                </a:tc>
                <a:extLst>
                  <a:ext uri="{0D108BD9-81ED-4DB2-BD59-A6C34878D82A}">
                    <a16:rowId xmlns:a16="http://schemas.microsoft.com/office/drawing/2014/main" val="3269399551"/>
                  </a:ext>
                </a:extLst>
              </a:tr>
              <a:tr h="712891">
                <a:tc>
                  <a:txBody>
                    <a:bodyPr/>
                    <a:lstStyle/>
                    <a:p>
                      <a:pPr algn="ctr"/>
                      <a:r>
                        <a:rPr lang="en-US" sz="1400" dirty="0"/>
                        <a:t>1.</a:t>
                      </a:r>
                      <a:endParaRPr lang="en-IN" sz="1400" dirty="0"/>
                    </a:p>
                  </a:txBody>
                  <a:tcPr/>
                </a:tc>
                <a:tc>
                  <a:txBody>
                    <a:bodyPr/>
                    <a:lstStyle/>
                    <a:p>
                      <a:pPr algn="l"/>
                      <a:r>
                        <a:rPr lang="en-IN" sz="1400" dirty="0"/>
                        <a:t>Architect the Multi-Agent Core</a:t>
                      </a:r>
                    </a:p>
                  </a:txBody>
                  <a:tcPr/>
                </a:tc>
                <a:tc>
                  <a:txBody>
                    <a:bodyPr/>
                    <a:lstStyle/>
                    <a:p>
                      <a:pPr algn="l"/>
                      <a:r>
                        <a:rPr lang="en-US" sz="1400" dirty="0"/>
                        <a:t>Define the project structure and select an agentic orchestration library (e.g., Microsoft </a:t>
                      </a:r>
                      <a:r>
                        <a:rPr lang="en-US" sz="1400" dirty="0" err="1"/>
                        <a:t>AutoGen</a:t>
                      </a:r>
                      <a:r>
                        <a:rPr lang="en-US" sz="1400" dirty="0"/>
                        <a:t>) to manage the lifecycle, message passing, and group chat dynamics between different AI personas.</a:t>
                      </a:r>
                      <a:endParaRPr lang="en-IN" sz="1400" dirty="0"/>
                    </a:p>
                  </a:txBody>
                  <a:tcPr/>
                </a:tc>
                <a:tc>
                  <a:txBody>
                    <a:bodyPr/>
                    <a:lstStyle/>
                    <a:p>
                      <a:r>
                        <a:rPr lang="en-US" sz="1400" dirty="0"/>
                        <a:t>07 – 08 April 2026</a:t>
                      </a:r>
                      <a:endParaRPr lang="en-IN" sz="1400" dirty="0"/>
                    </a:p>
                  </a:txBody>
                  <a:tcPr/>
                </a:tc>
                <a:tc>
                  <a:txBody>
                    <a:bodyPr/>
                    <a:lstStyle/>
                    <a:p>
                      <a:endParaRPr lang="en-IN" sz="1400" dirty="0"/>
                    </a:p>
                  </a:txBody>
                  <a:tcPr/>
                </a:tc>
                <a:extLst>
                  <a:ext uri="{0D108BD9-81ED-4DB2-BD59-A6C34878D82A}">
                    <a16:rowId xmlns:a16="http://schemas.microsoft.com/office/drawing/2014/main" val="1561870270"/>
                  </a:ext>
                </a:extLst>
              </a:tr>
              <a:tr h="920818">
                <a:tc>
                  <a:txBody>
                    <a:bodyPr/>
                    <a:lstStyle/>
                    <a:p>
                      <a:pPr algn="ctr"/>
                      <a:r>
                        <a:rPr lang="en-US" sz="1400" dirty="0"/>
                        <a:t>2.</a:t>
                      </a:r>
                      <a:endParaRPr lang="en-IN" sz="1400" dirty="0"/>
                    </a:p>
                  </a:txBody>
                  <a:tcPr/>
                </a:tc>
                <a:tc>
                  <a:txBody>
                    <a:bodyPr/>
                    <a:lstStyle/>
                    <a:p>
                      <a:pPr algn="l"/>
                      <a:r>
                        <a:rPr lang="en-US" sz="1400" dirty="0"/>
                        <a:t>Implement the MCP Tool Workbench</a:t>
                      </a:r>
                      <a:endParaRPr lang="en-IN" sz="1400" dirty="0"/>
                    </a:p>
                  </a:txBody>
                  <a:tcPr/>
                </a:tc>
                <a:tc>
                  <a:txBody>
                    <a:bodyPr/>
                    <a:lstStyle/>
                    <a:p>
                      <a:pPr algn="l"/>
                      <a:r>
                        <a:rPr lang="en-US" sz="1400" dirty="0"/>
                        <a:t>Build a modular configuration layer to integrate Model Context Protocol (MCP) servers. This allows agents to interact with the real world through standardized tools for browser automation (Playwright), databases (SQL), and enterprise APIs (Jira/REST).</a:t>
                      </a:r>
                      <a:endParaRPr lang="en-IN" sz="1400" dirty="0"/>
                    </a:p>
                  </a:txBody>
                  <a:tcPr/>
                </a:tc>
                <a:tc>
                  <a:txBody>
                    <a:bodyPr/>
                    <a:lstStyle/>
                    <a:p>
                      <a:r>
                        <a:rPr lang="en-US" sz="1400" dirty="0"/>
                        <a:t>13-15 April 2026</a:t>
                      </a:r>
                      <a:endParaRPr lang="en-IN" sz="1400" dirty="0"/>
                    </a:p>
                  </a:txBody>
                  <a:tcPr/>
                </a:tc>
                <a:tc>
                  <a:txBody>
                    <a:bodyPr/>
                    <a:lstStyle/>
                    <a:p>
                      <a:endParaRPr lang="en-IN" sz="1400"/>
                    </a:p>
                  </a:txBody>
                  <a:tcPr/>
                </a:tc>
                <a:extLst>
                  <a:ext uri="{0D108BD9-81ED-4DB2-BD59-A6C34878D82A}">
                    <a16:rowId xmlns:a16="http://schemas.microsoft.com/office/drawing/2014/main" val="4043470880"/>
                  </a:ext>
                </a:extLst>
              </a:tr>
              <a:tr h="920818">
                <a:tc>
                  <a:txBody>
                    <a:bodyPr/>
                    <a:lstStyle/>
                    <a:p>
                      <a:pPr algn="ctr"/>
                      <a:r>
                        <a:rPr lang="en-US" sz="1400" dirty="0"/>
                        <a:t>3.</a:t>
                      </a:r>
                      <a:endParaRPr lang="en-IN" sz="1400" dirty="0"/>
                    </a:p>
                  </a:txBody>
                  <a:tcPr/>
                </a:tc>
                <a:tc>
                  <a:txBody>
                    <a:bodyPr/>
                    <a:lstStyle/>
                    <a:p>
                      <a:pPr algn="l"/>
                      <a:r>
                        <a:rPr lang="en-US" sz="1400" dirty="0"/>
                        <a:t>Develop a Specialized Agent Factory</a:t>
                      </a:r>
                      <a:endParaRPr lang="en-IN" sz="1400" dirty="0"/>
                    </a:p>
                  </a:txBody>
                  <a:tcPr/>
                </a:tc>
                <a:tc>
                  <a:txBody>
                    <a:bodyPr/>
                    <a:lstStyle/>
                    <a:p>
                      <a:pPr algn="l"/>
                      <a:r>
                        <a:rPr lang="en-US" sz="1400" dirty="0"/>
                        <a:t>Create a Factory Pattern to instantiate agents with predefined roles. Each agent should be "born" with a specific system message and a subset of tools relevant to its task (e.g., a </a:t>
                      </a:r>
                      <a:r>
                        <a:rPr lang="en-US" sz="1400" dirty="0" err="1"/>
                        <a:t>DatabaseAgent</a:t>
                      </a:r>
                      <a:r>
                        <a:rPr lang="en-US" sz="1400" dirty="0"/>
                        <a:t> gets SQL tools, while an </a:t>
                      </a:r>
                      <a:r>
                        <a:rPr lang="en-US" sz="1400" dirty="0" err="1"/>
                        <a:t>AutomationAgent</a:t>
                      </a:r>
                      <a:r>
                        <a:rPr lang="en-US" sz="1400" dirty="0"/>
                        <a:t> gets browser tools).</a:t>
                      </a:r>
                      <a:endParaRPr lang="en-IN" sz="1400" dirty="0"/>
                    </a:p>
                  </a:txBody>
                  <a:tcPr/>
                </a:tc>
                <a:tc>
                  <a:txBody>
                    <a:bodyPr/>
                    <a:lstStyle/>
                    <a:p>
                      <a:r>
                        <a:rPr lang="en-US" sz="1400" dirty="0"/>
                        <a:t>15 – 17 April 2026</a:t>
                      </a:r>
                      <a:endParaRPr lang="en-IN" sz="1400" dirty="0"/>
                    </a:p>
                  </a:txBody>
                  <a:tcPr/>
                </a:tc>
                <a:tc>
                  <a:txBody>
                    <a:bodyPr/>
                    <a:lstStyle/>
                    <a:p>
                      <a:endParaRPr lang="en-IN" sz="1400"/>
                    </a:p>
                  </a:txBody>
                  <a:tcPr/>
                </a:tc>
                <a:extLst>
                  <a:ext uri="{0D108BD9-81ED-4DB2-BD59-A6C34878D82A}">
                    <a16:rowId xmlns:a16="http://schemas.microsoft.com/office/drawing/2014/main" val="3721587006"/>
                  </a:ext>
                </a:extLst>
              </a:tr>
              <a:tr h="920818">
                <a:tc>
                  <a:txBody>
                    <a:bodyPr/>
                    <a:lstStyle/>
                    <a:p>
                      <a:pPr algn="ctr"/>
                      <a:r>
                        <a:rPr lang="en-US" sz="1400" dirty="0"/>
                        <a:t>4.</a:t>
                      </a:r>
                      <a:endParaRPr lang="en-IN" sz="1400" dirty="0"/>
                    </a:p>
                  </a:txBody>
                  <a:tcPr/>
                </a:tc>
                <a:tc>
                  <a:txBody>
                    <a:bodyPr/>
                    <a:lstStyle/>
                    <a:p>
                      <a:pPr algn="l"/>
                      <a:r>
                        <a:rPr lang="en-US" sz="1400" dirty="0"/>
                        <a:t>Build a Centralized Configuration &amp; Data Layer</a:t>
                      </a:r>
                      <a:endParaRPr lang="en-IN" sz="1400" dirty="0"/>
                    </a:p>
                  </a:txBody>
                  <a:tcPr/>
                </a:tc>
                <a:tc>
                  <a:txBody>
                    <a:bodyPr/>
                    <a:lstStyle/>
                    <a:p>
                      <a:pPr algn="l"/>
                      <a:r>
                        <a:rPr lang="en-US" sz="1400" dirty="0"/>
                        <a:t>Engineer a robust Config Manager to handle environment-specific variables, credentials, and file paths. This ensures the framework can switch between environments (Dev, QA, Prod) by simply updating a .properties or .env file without changing code.</a:t>
                      </a:r>
                      <a:endParaRPr lang="en-IN" sz="1400" dirty="0"/>
                    </a:p>
                  </a:txBody>
                  <a:tcPr/>
                </a:tc>
                <a:tc>
                  <a:txBody>
                    <a:bodyPr/>
                    <a:lstStyle/>
                    <a:p>
                      <a:r>
                        <a:rPr lang="en-US" sz="1400" dirty="0"/>
                        <a:t>19-20 April 2026</a:t>
                      </a:r>
                      <a:endParaRPr lang="en-IN" sz="1400" dirty="0"/>
                    </a:p>
                  </a:txBody>
                  <a:tcPr/>
                </a:tc>
                <a:tc>
                  <a:txBody>
                    <a:bodyPr/>
                    <a:lstStyle/>
                    <a:p>
                      <a:endParaRPr lang="en-IN" sz="1400"/>
                    </a:p>
                  </a:txBody>
                  <a:tcPr/>
                </a:tc>
                <a:extLst>
                  <a:ext uri="{0D108BD9-81ED-4DB2-BD59-A6C34878D82A}">
                    <a16:rowId xmlns:a16="http://schemas.microsoft.com/office/drawing/2014/main" val="2888293749"/>
                  </a:ext>
                </a:extLst>
              </a:tr>
              <a:tr h="920818">
                <a:tc>
                  <a:txBody>
                    <a:bodyPr/>
                    <a:lstStyle/>
                    <a:p>
                      <a:pPr algn="ctr"/>
                      <a:r>
                        <a:rPr lang="en-US" sz="1400" dirty="0"/>
                        <a:t>5.</a:t>
                      </a:r>
                      <a:endParaRPr lang="en-IN" sz="1400" dirty="0"/>
                    </a:p>
                  </a:txBody>
                  <a:tcPr/>
                </a:tc>
                <a:tc>
                  <a:txBody>
                    <a:bodyPr/>
                    <a:lstStyle/>
                    <a:p>
                      <a:pPr algn="l"/>
                      <a:r>
                        <a:rPr lang="en-US" sz="1400" dirty="0"/>
                        <a:t>Create an Automated Reporting &amp; Screenshot Engine</a:t>
                      </a:r>
                      <a:endParaRPr lang="en-IN" sz="1400" dirty="0"/>
                    </a:p>
                  </a:txBody>
                  <a:tcPr/>
                </a:tc>
                <a:tc>
                  <a:txBody>
                    <a:bodyPr/>
                    <a:lstStyle/>
                    <a:p>
                      <a:pPr algn="l"/>
                      <a:r>
                        <a:rPr lang="en-US" sz="1400" dirty="0"/>
                        <a:t>Develop a custom Reporter Library that captures the raw LLM conversation, determines the PASS/FAIL status based on termination tokens, and generates visual HTML reports with embedded screenshots for auditability.</a:t>
                      </a:r>
                      <a:endParaRPr lang="en-IN" sz="1400" dirty="0"/>
                    </a:p>
                  </a:txBody>
                  <a:tcPr/>
                </a:tc>
                <a:tc>
                  <a:txBody>
                    <a:bodyPr/>
                    <a:lstStyle/>
                    <a:p>
                      <a:r>
                        <a:rPr lang="en-US" sz="1400" dirty="0"/>
                        <a:t>20-21 April 2026</a:t>
                      </a:r>
                      <a:endParaRPr lang="en-IN" sz="1400" dirty="0"/>
                    </a:p>
                  </a:txBody>
                  <a:tcPr/>
                </a:tc>
                <a:tc>
                  <a:txBody>
                    <a:bodyPr/>
                    <a:lstStyle/>
                    <a:p>
                      <a:endParaRPr lang="en-IN" sz="1400"/>
                    </a:p>
                  </a:txBody>
                  <a:tcPr/>
                </a:tc>
                <a:extLst>
                  <a:ext uri="{0D108BD9-81ED-4DB2-BD59-A6C34878D82A}">
                    <a16:rowId xmlns:a16="http://schemas.microsoft.com/office/drawing/2014/main" val="3750369151"/>
                  </a:ext>
                </a:extLst>
              </a:tr>
              <a:tr h="920818">
                <a:tc>
                  <a:txBody>
                    <a:bodyPr/>
                    <a:lstStyle/>
                    <a:p>
                      <a:pPr algn="ctr"/>
                      <a:r>
                        <a:rPr lang="en-US" sz="1400" dirty="0"/>
                        <a:t>6.</a:t>
                      </a:r>
                      <a:endParaRPr lang="en-IN" sz="1400" dirty="0"/>
                    </a:p>
                  </a:txBody>
                  <a:tcPr/>
                </a:tc>
                <a:tc>
                  <a:txBody>
                    <a:bodyPr/>
                    <a:lstStyle/>
                    <a:p>
                      <a:pPr algn="l"/>
                      <a:r>
                        <a:rPr lang="en-US" sz="1400" dirty="0"/>
                        <a:t>Engineer a Scenario Discovery &amp; Suite Runner</a:t>
                      </a:r>
                      <a:endParaRPr lang="en-IN" sz="1400" dirty="0"/>
                    </a:p>
                  </a:txBody>
                  <a:tcPr/>
                </a:tc>
                <a:tc>
                  <a:txBody>
                    <a:bodyPr/>
                    <a:lstStyle/>
                    <a:p>
                      <a:pPr algn="l"/>
                      <a:r>
                        <a:rPr lang="en-US" sz="1400" dirty="0"/>
                        <a:t>Build a central Execution Engine (like run_suite.py) that uses dynamic file discovery to find and run test scenarios. It should handle sequential execution, error isolation (one test failing doesn't stop the suite), and aggregate all results into a single dashboard.</a:t>
                      </a:r>
                      <a:endParaRPr lang="en-IN" sz="1400" dirty="0"/>
                    </a:p>
                  </a:txBody>
                  <a:tcPr/>
                </a:tc>
                <a:tc>
                  <a:txBody>
                    <a:bodyPr/>
                    <a:lstStyle/>
                    <a:p>
                      <a:r>
                        <a:rPr lang="en-US" sz="1400" dirty="0"/>
                        <a:t>28-29 April 2026</a:t>
                      </a:r>
                      <a:endParaRPr lang="en-IN" sz="1400" dirty="0"/>
                    </a:p>
                  </a:txBody>
                  <a:tcPr/>
                </a:tc>
                <a:tc>
                  <a:txBody>
                    <a:bodyPr/>
                    <a:lstStyle/>
                    <a:p>
                      <a:endParaRPr lang="en-IN" sz="1400" dirty="0"/>
                    </a:p>
                  </a:txBody>
                  <a:tcPr/>
                </a:tc>
                <a:extLst>
                  <a:ext uri="{0D108BD9-81ED-4DB2-BD59-A6C34878D82A}">
                    <a16:rowId xmlns:a16="http://schemas.microsoft.com/office/drawing/2014/main" val="1173044868"/>
                  </a:ext>
                </a:extLst>
              </a:tr>
            </a:tbl>
          </a:graphicData>
        </a:graphic>
      </p:graphicFrame>
      <p:sp>
        <p:nvSpPr>
          <p:cNvPr id="3" name="TextBox 2">
            <a:extLst>
              <a:ext uri="{FF2B5EF4-FFF2-40B4-BE49-F238E27FC236}">
                <a16:creationId xmlns:a16="http://schemas.microsoft.com/office/drawing/2014/main" id="{95AA17CB-5082-4D12-8DB0-A3461FB1FF8A}"/>
              </a:ext>
            </a:extLst>
          </p:cNvPr>
          <p:cNvSpPr txBox="1"/>
          <p:nvPr/>
        </p:nvSpPr>
        <p:spPr>
          <a:xfrm>
            <a:off x="405353" y="131975"/>
            <a:ext cx="7022969" cy="461665"/>
          </a:xfrm>
          <a:prstGeom prst="rect">
            <a:avLst/>
          </a:prstGeom>
          <a:noFill/>
        </p:spPr>
        <p:txBody>
          <a:bodyPr wrap="square" rtlCol="0">
            <a:spAutoFit/>
          </a:bodyPr>
          <a:lstStyle/>
          <a:p>
            <a:r>
              <a:rPr lang="en-US" sz="2400" b="1" dirty="0"/>
              <a:t>Tool Development Work Plan</a:t>
            </a:r>
            <a:endParaRPr lang="en-IN" sz="2400" b="1" dirty="0"/>
          </a:p>
        </p:txBody>
      </p:sp>
    </p:spTree>
    <p:extLst>
      <p:ext uri="{BB962C8B-B14F-4D97-AF65-F5344CB8AC3E}">
        <p14:creationId xmlns:p14="http://schemas.microsoft.com/office/powerpoint/2010/main" val="4101626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2129</TotalTime>
  <Words>2176</Words>
  <Application>Microsoft Office PowerPoint</Application>
  <PresentationFormat>Widescreen</PresentationFormat>
  <Paragraphs>165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Paradigm Shift in Artificial Intelligence Architecture</vt:lpstr>
      <vt:lpstr>Agentic AI Automation Layered Architecture</vt:lpstr>
      <vt:lpstr>Model Context Protocol (MCP) – Architectural Innovation</vt:lpstr>
      <vt:lpstr>AutoGen Framework – Multi-Agent Orchestration</vt:lpstr>
      <vt:lpstr>Multi-Agent Automation Framework – Technical Implementation</vt:lpstr>
      <vt:lpstr>PowerPoint Presentation</vt:lpstr>
      <vt:lpstr>Multi-Agent Automation Framework – Technical Implementation</vt:lpstr>
      <vt:lpstr>Advanced Concepts and Trajectory</vt:lpstr>
      <vt:lpstr>PowerPoint Presentation</vt:lpstr>
      <vt:lpstr>Drawbacks of Agentic Automation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susilp</dc:creator>
  <cp:lastModifiedBy>susilp</cp:lastModifiedBy>
  <cp:revision>163</cp:revision>
  <dcterms:created xsi:type="dcterms:W3CDTF">2026-03-29T09:39:45Z</dcterms:created>
  <dcterms:modified xsi:type="dcterms:W3CDTF">2026-04-09T17:28:30Z</dcterms:modified>
</cp:coreProperties>
</file>