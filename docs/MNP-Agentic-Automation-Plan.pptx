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69" r:id="rId2"/>
    <p:sldId id="270" r:id="rId3"/>
    <p:sldId id="27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5D5AC-FCD9-47AA-B58E-2158DB7EA4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FECB73-9559-4B09-9F29-2974A2F5EA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728F90-1742-46F8-AE77-7F3429F1957F}"/>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5" name="Footer Placeholder 4">
            <a:extLst>
              <a:ext uri="{FF2B5EF4-FFF2-40B4-BE49-F238E27FC236}">
                <a16:creationId xmlns:a16="http://schemas.microsoft.com/office/drawing/2014/main" id="{9BF26B61-F3FD-4CA2-81B4-F03A39782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624ADE-F6A2-484D-8F64-FCD2318F67CB}"/>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305406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1017-62C9-410B-B5F9-83FE1B9C47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100446-5918-4007-93C4-3FBA7E85C85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DB3877-C465-4A10-820B-04AA036AF4FA}"/>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5" name="Footer Placeholder 4">
            <a:extLst>
              <a:ext uri="{FF2B5EF4-FFF2-40B4-BE49-F238E27FC236}">
                <a16:creationId xmlns:a16="http://schemas.microsoft.com/office/drawing/2014/main" id="{027C9552-E2F3-4033-86F9-43B40CA896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217D6-EE40-4513-BDD2-DD7DB11FE3EC}"/>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593346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A9BB-0CD5-4685-8345-B234D124DF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27344E-F9D6-429B-9947-81EE180DD0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82FFC5C-AB01-481E-A088-17CDA9E43D7E}"/>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5" name="Footer Placeholder 4">
            <a:extLst>
              <a:ext uri="{FF2B5EF4-FFF2-40B4-BE49-F238E27FC236}">
                <a16:creationId xmlns:a16="http://schemas.microsoft.com/office/drawing/2014/main" id="{F32DE319-4FFB-4596-BF8D-03DEBEACDB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A36DCA-DEAF-478D-9F15-9AB95CC2E3AF}"/>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2211148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2DDE-C26D-4B19-AEDF-1B14C7861E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CEC104-454B-42D7-B93C-D2729E634B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C25ED9-ADC9-4782-A9DF-16293841AE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1062A8-A6A1-402B-AD13-BD6F4B642DC3}"/>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6" name="Footer Placeholder 5">
            <a:extLst>
              <a:ext uri="{FF2B5EF4-FFF2-40B4-BE49-F238E27FC236}">
                <a16:creationId xmlns:a16="http://schemas.microsoft.com/office/drawing/2014/main" id="{69FA434A-C66B-49B0-A771-A317304323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D83F75-4E8D-490A-9AFF-A5938B083E1D}"/>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1545470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A889-91A6-49C4-933A-E1256C38E0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F9D7BB-4E97-49CF-B786-79F8FA1556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C5C2BF1-18D6-4E02-A87B-CB8B50B212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4FD9F4-4E53-4F58-9CC6-A722A56C6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576CF02-5B77-4659-81CC-AD2D8FA4F87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339D76-DBF0-401E-8998-170848942255}"/>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8" name="Footer Placeholder 7">
            <a:extLst>
              <a:ext uri="{FF2B5EF4-FFF2-40B4-BE49-F238E27FC236}">
                <a16:creationId xmlns:a16="http://schemas.microsoft.com/office/drawing/2014/main" id="{81930880-5E24-4022-B688-F0531EB431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E5EA23-0F77-449B-BF9B-C77EF9ABACE4}"/>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87122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F00FD-8BEC-4557-B459-8BFCD382EE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FC0C9A-0F4E-4F09-A638-DD2FE6E28734}"/>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4" name="Footer Placeholder 3">
            <a:extLst>
              <a:ext uri="{FF2B5EF4-FFF2-40B4-BE49-F238E27FC236}">
                <a16:creationId xmlns:a16="http://schemas.microsoft.com/office/drawing/2014/main" id="{D99D8E23-2FC7-4DFF-B557-7A230C206E7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4A9FB0-D60B-44BE-AAB5-6AAE1A071DC7}"/>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1295557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C42ADB-52DB-40DE-B144-5D5605447AF9}"/>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3" name="Footer Placeholder 2">
            <a:extLst>
              <a:ext uri="{FF2B5EF4-FFF2-40B4-BE49-F238E27FC236}">
                <a16:creationId xmlns:a16="http://schemas.microsoft.com/office/drawing/2014/main" id="{E8BAA1AC-E1F1-486F-A351-939C7D53A4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26A5FB-E227-40A6-BB61-366D200E46CC}"/>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6260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57C8-47B6-4007-B389-C88C976A5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E3ED1D-0CD5-4D8D-BD46-1BC61FA5B2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6F791D-630C-44AD-A978-1F5C330CA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777759-69AD-4DEE-8D1A-B705C2C7A4EF}"/>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6" name="Footer Placeholder 5">
            <a:extLst>
              <a:ext uri="{FF2B5EF4-FFF2-40B4-BE49-F238E27FC236}">
                <a16:creationId xmlns:a16="http://schemas.microsoft.com/office/drawing/2014/main" id="{C25BEA58-534C-4090-B3E8-D6118FDD1D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8E5E79-30B6-4B85-9DD5-8381AFF6AACE}"/>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412559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302D-AD68-467B-B17D-A2595082C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713098-732A-4AB6-84B4-07FC7C25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C7FF50-BDB3-4880-9813-473CF3225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38EC6-C736-40BD-B11F-96688F7CB4F5}"/>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6" name="Footer Placeholder 5">
            <a:extLst>
              <a:ext uri="{FF2B5EF4-FFF2-40B4-BE49-F238E27FC236}">
                <a16:creationId xmlns:a16="http://schemas.microsoft.com/office/drawing/2014/main" id="{42738B23-50D2-46E7-8C79-A6C231CC26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6A9DCA-3C09-43BF-BA69-4CB520E640AD}"/>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254718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C7E1-5C6F-4EE9-8B83-6F022B0D8F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875C7C-2515-4B5D-AF2B-7ECAC2A5281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A20571-F187-492F-BFCF-806AE76CFBB4}"/>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5" name="Footer Placeholder 4">
            <a:extLst>
              <a:ext uri="{FF2B5EF4-FFF2-40B4-BE49-F238E27FC236}">
                <a16:creationId xmlns:a16="http://schemas.microsoft.com/office/drawing/2014/main" id="{45F2B5B0-4C62-4FAA-B646-7B7C93871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0AD030-007B-4252-A74B-61E04ABE1EDB}"/>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3213172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4BD0A6-6078-482A-9C9D-CCA6F1D779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FEE287-9FFD-4995-BE69-A223A702DF3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37F6F-99B9-4BFB-9032-3258953A280B}"/>
              </a:ext>
            </a:extLst>
          </p:cNvPr>
          <p:cNvSpPr>
            <a:spLocks noGrp="1"/>
          </p:cNvSpPr>
          <p:nvPr>
            <p:ph type="dt" sz="half" idx="10"/>
          </p:nvPr>
        </p:nvSpPr>
        <p:spPr/>
        <p:txBody>
          <a:bodyPr/>
          <a:lstStyle/>
          <a:p>
            <a:fld id="{98901B81-F904-4EBD-BFDF-A8A3225BB356}" type="datetimeFigureOut">
              <a:rPr lang="en-IN" smtClean="0"/>
              <a:t>06-04-2026</a:t>
            </a:fld>
            <a:endParaRPr lang="en-IN"/>
          </a:p>
        </p:txBody>
      </p:sp>
      <p:sp>
        <p:nvSpPr>
          <p:cNvPr id="5" name="Footer Placeholder 4">
            <a:extLst>
              <a:ext uri="{FF2B5EF4-FFF2-40B4-BE49-F238E27FC236}">
                <a16:creationId xmlns:a16="http://schemas.microsoft.com/office/drawing/2014/main" id="{4DA4F9A4-07F2-48E5-93D0-B01B9ECEC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5F1D20-0745-474D-B384-747034A09E0C}"/>
              </a:ext>
            </a:extLst>
          </p:cNvPr>
          <p:cNvSpPr>
            <a:spLocks noGrp="1"/>
          </p:cNvSpPr>
          <p:nvPr>
            <p:ph type="sldNum" sz="quarter" idx="12"/>
          </p:nvPr>
        </p:nvSpPr>
        <p:spPr/>
        <p:txBody>
          <a:bodyPr/>
          <a:lstStyle/>
          <a:p>
            <a:fld id="{8257213C-893A-4DC5-8E62-A0F6CFA922ED}" type="slidenum">
              <a:rPr lang="en-IN" smtClean="0"/>
              <a:t>‹#›</a:t>
            </a:fld>
            <a:endParaRPr lang="en-IN"/>
          </a:p>
        </p:txBody>
      </p:sp>
    </p:spTree>
    <p:extLst>
      <p:ext uri="{BB962C8B-B14F-4D97-AF65-F5344CB8AC3E}">
        <p14:creationId xmlns:p14="http://schemas.microsoft.com/office/powerpoint/2010/main" val="1998199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0C4C02-9C46-41A7-B6B3-79887B7AB7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0CF0F9-06AD-4C2C-BFB9-5C6F362751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EC3735-497E-425E-9448-B2B6D9D717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01B81-F904-4EBD-BFDF-A8A3225BB356}" type="datetimeFigureOut">
              <a:rPr lang="en-IN" smtClean="0"/>
              <a:t>06-04-2026</a:t>
            </a:fld>
            <a:endParaRPr lang="en-IN"/>
          </a:p>
        </p:txBody>
      </p:sp>
      <p:sp>
        <p:nvSpPr>
          <p:cNvPr id="5" name="Footer Placeholder 4">
            <a:extLst>
              <a:ext uri="{FF2B5EF4-FFF2-40B4-BE49-F238E27FC236}">
                <a16:creationId xmlns:a16="http://schemas.microsoft.com/office/drawing/2014/main" id="{931E03BC-63F5-4DE8-B08E-E7AB13E448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808C21-FC93-4FE9-8341-631A688633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7213C-893A-4DC5-8E62-A0F6CFA922ED}" type="slidenum">
              <a:rPr lang="en-IN" smtClean="0"/>
              <a:t>‹#›</a:t>
            </a:fld>
            <a:endParaRPr lang="en-IN"/>
          </a:p>
        </p:txBody>
      </p:sp>
    </p:spTree>
    <p:extLst>
      <p:ext uri="{BB962C8B-B14F-4D97-AF65-F5344CB8AC3E}">
        <p14:creationId xmlns:p14="http://schemas.microsoft.com/office/powerpoint/2010/main" val="217814255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6DC1F7-47D1-46DD-8F5B-45062D26C5D6}"/>
              </a:ext>
            </a:extLst>
          </p:cNvPr>
          <p:cNvSpPr/>
          <p:nvPr/>
        </p:nvSpPr>
        <p:spPr>
          <a:xfrm>
            <a:off x="254525" y="0"/>
            <a:ext cx="11717516" cy="6463308"/>
          </a:xfrm>
          <a:prstGeom prst="rect">
            <a:avLst/>
          </a:prstGeom>
        </p:spPr>
        <p:txBody>
          <a:bodyPr wrap="square">
            <a:spAutoFit/>
          </a:bodyPr>
          <a:lstStyle/>
          <a:p>
            <a:r>
              <a:rPr lang="en-IN" b="1" dirty="0" err="1">
                <a:solidFill>
                  <a:srgbClr val="002060"/>
                </a:solidFill>
              </a:rPr>
              <a:t>MNPAgenticAIAutomation</a:t>
            </a:r>
            <a:r>
              <a:rPr lang="en-IN" dirty="0">
                <a:solidFill>
                  <a:srgbClr val="002060"/>
                </a:solidFill>
              </a:rPr>
              <a:t>/      </a:t>
            </a:r>
            <a:r>
              <a:rPr lang="en-IN" b="1" u="sng" dirty="0">
                <a:solidFill>
                  <a:srgbClr val="002060"/>
                </a:solidFill>
              </a:rPr>
              <a:t>Framework Tool Core Files &amp; Folders (To be Developed)</a:t>
            </a:r>
          </a:p>
          <a:p>
            <a:r>
              <a:rPr lang="en-IN" dirty="0">
                <a:solidFill>
                  <a:srgbClr val="002060"/>
                </a:solidFill>
              </a:rPr>
              <a:t>├ config/                                                             </a:t>
            </a:r>
          </a:p>
          <a:p>
            <a:r>
              <a:rPr lang="en-IN" dirty="0">
                <a:solidFill>
                  <a:srgbClr val="002060"/>
                </a:solidFill>
              </a:rPr>
              <a:t>    └── </a:t>
            </a:r>
            <a:r>
              <a:rPr lang="en-IN" dirty="0" err="1">
                <a:solidFill>
                  <a:srgbClr val="002060"/>
                </a:solidFill>
              </a:rPr>
              <a:t>config.properties</a:t>
            </a:r>
            <a:r>
              <a:rPr lang="en-IN" dirty="0"/>
              <a:t>	# </a:t>
            </a:r>
            <a:r>
              <a:rPr lang="en-US" dirty="0"/>
              <a:t>Central key-value file for credentials, URLs, and browser settings.</a:t>
            </a:r>
            <a:endParaRPr lang="en-IN" dirty="0"/>
          </a:p>
          <a:p>
            <a:r>
              <a:rPr lang="en-IN" dirty="0">
                <a:solidFill>
                  <a:srgbClr val="002060"/>
                </a:solidFill>
              </a:rPr>
              <a:t>├ Data/</a:t>
            </a:r>
          </a:p>
          <a:p>
            <a:r>
              <a:rPr lang="en-IN" dirty="0">
                <a:solidFill>
                  <a:srgbClr val="002060"/>
                </a:solidFill>
              </a:rPr>
              <a:t>    └── files/    </a:t>
            </a:r>
            <a:r>
              <a:rPr lang="en-IN" dirty="0"/>
              <a:t>		</a:t>
            </a:r>
            <a:r>
              <a:rPr lang="en-US" dirty="0"/>
              <a:t># If required, Repository for input test data like Excel sheets, CSVs, or text files.</a:t>
            </a:r>
            <a:endParaRPr lang="en-IN" dirty="0"/>
          </a:p>
          <a:p>
            <a:r>
              <a:rPr lang="en-IN" dirty="0">
                <a:solidFill>
                  <a:srgbClr val="002060"/>
                </a:solidFill>
              </a:rPr>
              <a:t>├ framework/</a:t>
            </a:r>
          </a:p>
          <a:p>
            <a:r>
              <a:rPr lang="en-IN" dirty="0">
                <a:solidFill>
                  <a:srgbClr val="002060"/>
                </a:solidFill>
              </a:rPr>
              <a:t>    ├ </a:t>
            </a:r>
            <a:r>
              <a:rPr lang="en-IN" dirty="0" err="1">
                <a:solidFill>
                  <a:srgbClr val="002060"/>
                </a:solidFill>
              </a:rPr>
              <a:t>agentfactory</a:t>
            </a:r>
            <a:r>
              <a:rPr lang="en-IN" dirty="0">
                <a:solidFill>
                  <a:srgbClr val="002060"/>
                </a:solidFill>
              </a:rPr>
              <a:t>/</a:t>
            </a:r>
          </a:p>
          <a:p>
            <a:r>
              <a:rPr lang="en-IN" dirty="0">
                <a:solidFill>
                  <a:srgbClr val="002060"/>
                </a:solidFill>
              </a:rPr>
              <a:t>    │   └── agentFactory.py</a:t>
            </a:r>
            <a:r>
              <a:rPr lang="en-IN" dirty="0"/>
              <a:t>	</a:t>
            </a:r>
            <a:r>
              <a:rPr lang="en-US" dirty="0"/>
              <a:t># Factory that instantiates specialized agents (UI, DB, API etc.) with pre-configured tools.</a:t>
            </a:r>
            <a:endParaRPr lang="en-IN" dirty="0"/>
          </a:p>
          <a:p>
            <a:r>
              <a:rPr lang="en-IN" dirty="0">
                <a:solidFill>
                  <a:srgbClr val="002060"/>
                </a:solidFill>
              </a:rPr>
              <a:t>    └── </a:t>
            </a:r>
            <a:r>
              <a:rPr lang="en-IN" dirty="0" err="1">
                <a:solidFill>
                  <a:srgbClr val="002060"/>
                </a:solidFill>
              </a:rPr>
              <a:t>mcp_config</a:t>
            </a:r>
            <a:r>
              <a:rPr lang="en-IN" dirty="0">
                <a:solidFill>
                  <a:srgbClr val="002060"/>
                </a:solidFill>
              </a:rPr>
              <a:t>/</a:t>
            </a:r>
          </a:p>
          <a:p>
            <a:r>
              <a:rPr lang="en-IN" dirty="0">
                <a:solidFill>
                  <a:srgbClr val="002060"/>
                </a:solidFill>
              </a:rPr>
              <a:t>         └── mcp_config.py</a:t>
            </a:r>
            <a:r>
              <a:rPr lang="en-IN" dirty="0"/>
              <a:t>	</a:t>
            </a:r>
            <a:r>
              <a:rPr lang="en-US" dirty="0"/>
              <a:t># Manages the connection and lifecycle of MCP workbenches (Playwright, </a:t>
            </a:r>
            <a:r>
              <a:rPr lang="en-US" dirty="0" err="1"/>
              <a:t>postgres</a:t>
            </a:r>
            <a:r>
              <a:rPr lang="en-US" dirty="0"/>
              <a:t>, </a:t>
            </a:r>
            <a:r>
              <a:rPr lang="en-US" dirty="0" err="1"/>
              <a:t>api</a:t>
            </a:r>
            <a:r>
              <a:rPr lang="en-US" dirty="0"/>
              <a:t> etc.).</a:t>
            </a:r>
          </a:p>
          <a:p>
            <a:endParaRPr lang="en-IN" dirty="0"/>
          </a:p>
          <a:p>
            <a:r>
              <a:rPr lang="en-IN" dirty="0">
                <a:solidFill>
                  <a:srgbClr val="002060"/>
                </a:solidFill>
              </a:rPr>
              <a:t>├ libs/</a:t>
            </a:r>
          </a:p>
          <a:p>
            <a:r>
              <a:rPr lang="en-IN" dirty="0">
                <a:solidFill>
                  <a:srgbClr val="002060"/>
                </a:solidFill>
              </a:rPr>
              <a:t>    ├  config_reader.py</a:t>
            </a:r>
            <a:r>
              <a:rPr lang="en-IN" dirty="0"/>
              <a:t>	</a:t>
            </a:r>
            <a:r>
              <a:rPr lang="en-US" dirty="0"/>
              <a:t># Logic for parsing property files and mapping them to environment variables.</a:t>
            </a:r>
            <a:endParaRPr lang="en-IN" dirty="0"/>
          </a:p>
          <a:p>
            <a:r>
              <a:rPr lang="en-IN" dirty="0">
                <a:solidFill>
                  <a:srgbClr val="002060"/>
                </a:solidFill>
              </a:rPr>
              <a:t>    ├ report_manager.py</a:t>
            </a:r>
            <a:r>
              <a:rPr lang="en-IN" dirty="0"/>
              <a:t>	</a:t>
            </a:r>
            <a:r>
              <a:rPr lang="en-US" dirty="0"/>
              <a:t># High-level wrapper that automates scenario execution, error handling, and reporting.</a:t>
            </a:r>
            <a:endParaRPr lang="en-IN" dirty="0"/>
          </a:p>
          <a:p>
            <a:r>
              <a:rPr lang="en-IN" dirty="0">
                <a:solidFill>
                  <a:srgbClr val="002060"/>
                </a:solidFill>
              </a:rPr>
              <a:t>    ├ reporter.py	</a:t>
            </a:r>
            <a:r>
              <a:rPr lang="en-IN" dirty="0"/>
              <a:t>	</a:t>
            </a:r>
            <a:r>
              <a:rPr lang="en-US" dirty="0"/>
              <a:t># Engine responsible for generating HTML reports for both individual tests and the full suite.</a:t>
            </a:r>
            <a:endParaRPr lang="en-IN" dirty="0"/>
          </a:p>
          <a:p>
            <a:r>
              <a:rPr lang="en-IN" dirty="0">
                <a:solidFill>
                  <a:srgbClr val="002060"/>
                </a:solidFill>
              </a:rPr>
              <a:t>    └  screenshot_tool.py</a:t>
            </a:r>
            <a:r>
              <a:rPr lang="en-IN" dirty="0"/>
              <a:t>	</a:t>
            </a:r>
            <a:r>
              <a:rPr lang="en-US" dirty="0"/>
              <a:t># Standardizes naming and path generation for browser screenshots.</a:t>
            </a:r>
            <a:endParaRPr lang="en-IN" dirty="0"/>
          </a:p>
          <a:p>
            <a:r>
              <a:rPr lang="en-IN" dirty="0">
                <a:solidFill>
                  <a:srgbClr val="002060"/>
                </a:solidFill>
              </a:rPr>
              <a:t>├ reports/</a:t>
            </a:r>
          </a:p>
          <a:p>
            <a:r>
              <a:rPr lang="en-IN" dirty="0">
                <a:solidFill>
                  <a:srgbClr val="002060"/>
                </a:solidFill>
              </a:rPr>
              <a:t>    ├ result/</a:t>
            </a:r>
            <a:r>
              <a:rPr lang="en-IN" dirty="0"/>
              <a:t>		</a:t>
            </a:r>
            <a:r>
              <a:rPr lang="en-US" dirty="0"/>
              <a:t># Final destination for generated individual and suite-level HTML reports.</a:t>
            </a:r>
            <a:endParaRPr lang="en-IN" dirty="0"/>
          </a:p>
          <a:p>
            <a:r>
              <a:rPr lang="en-IN" dirty="0">
                <a:solidFill>
                  <a:srgbClr val="002060"/>
                </a:solidFill>
              </a:rPr>
              <a:t>    └- Screenshots/	</a:t>
            </a:r>
            <a:r>
              <a:rPr lang="en-IN" dirty="0"/>
              <a:t>	#</a:t>
            </a:r>
            <a:r>
              <a:rPr lang="en-US" dirty="0"/>
              <a:t> Storage for all image evidence captured during UI automation.</a:t>
            </a:r>
            <a:endParaRPr lang="en-IN" dirty="0"/>
          </a:p>
          <a:p>
            <a:r>
              <a:rPr lang="en-IN" dirty="0">
                <a:solidFill>
                  <a:srgbClr val="002060"/>
                </a:solidFill>
              </a:rPr>
              <a:t>├ scenarios/</a:t>
            </a:r>
          </a:p>
          <a:p>
            <a:r>
              <a:rPr lang="en-IN" dirty="0">
                <a:solidFill>
                  <a:srgbClr val="002060"/>
                </a:solidFill>
              </a:rPr>
              <a:t>    ├ scenario_01_test.py</a:t>
            </a:r>
            <a:r>
              <a:rPr lang="en-IN" dirty="0"/>
              <a:t>	</a:t>
            </a:r>
            <a:r>
              <a:rPr lang="en-US" dirty="0"/>
              <a:t># Contains the actual test scripts ("what" to automate) using the framework.</a:t>
            </a:r>
            <a:endParaRPr lang="en-IN" dirty="0"/>
          </a:p>
          <a:p>
            <a:r>
              <a:rPr lang="en-IN" dirty="0">
                <a:solidFill>
                  <a:srgbClr val="002060"/>
                </a:solidFill>
              </a:rPr>
              <a:t>├ requirements.txt</a:t>
            </a:r>
            <a:r>
              <a:rPr lang="en-IN" dirty="0"/>
              <a:t>		</a:t>
            </a:r>
            <a:r>
              <a:rPr lang="en-US" dirty="0"/>
              <a:t># List of all Python libraries needed to run the framework.</a:t>
            </a:r>
            <a:endParaRPr lang="en-IN" dirty="0"/>
          </a:p>
          <a:p>
            <a:r>
              <a:rPr lang="en-IN" dirty="0">
                <a:solidFill>
                  <a:srgbClr val="002060"/>
                </a:solidFill>
              </a:rPr>
              <a:t>├ run_suite.py</a:t>
            </a:r>
            <a:r>
              <a:rPr lang="en-IN" dirty="0"/>
              <a:t>		</a:t>
            </a:r>
            <a:r>
              <a:rPr lang="en-US" dirty="0"/>
              <a:t># The main execution engine that auto-discovers and runs all scenarios.</a:t>
            </a:r>
            <a:endParaRPr lang="en-IN" dirty="0"/>
          </a:p>
        </p:txBody>
      </p:sp>
    </p:spTree>
    <p:extLst>
      <p:ext uri="{BB962C8B-B14F-4D97-AF65-F5344CB8AC3E}">
        <p14:creationId xmlns:p14="http://schemas.microsoft.com/office/powerpoint/2010/main" val="2044529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4D3DE8D-1A97-4992-997B-B17B4F67AB57}"/>
              </a:ext>
            </a:extLst>
          </p:cNvPr>
          <p:cNvGraphicFramePr>
            <a:graphicFrameLocks noGrp="1"/>
          </p:cNvGraphicFramePr>
          <p:nvPr>
            <p:extLst>
              <p:ext uri="{D42A27DB-BD31-4B8C-83A1-F6EECF244321}">
                <p14:modId xmlns:p14="http://schemas.microsoft.com/office/powerpoint/2010/main" val="3396537423"/>
              </p:ext>
            </p:extLst>
          </p:nvPr>
        </p:nvGraphicFramePr>
        <p:xfrm>
          <a:off x="405352" y="666161"/>
          <a:ext cx="11528980" cy="6010978"/>
        </p:xfrm>
        <a:graphic>
          <a:graphicData uri="http://schemas.openxmlformats.org/drawingml/2006/table">
            <a:tbl>
              <a:tblPr firstRow="1" bandRow="1">
                <a:tableStyleId>{5C22544A-7EE6-4342-B048-85BDC9FD1C3A}</a:tableStyleId>
              </a:tblPr>
              <a:tblGrid>
                <a:gridCol w="732162">
                  <a:extLst>
                    <a:ext uri="{9D8B030D-6E8A-4147-A177-3AD203B41FA5}">
                      <a16:colId xmlns:a16="http://schemas.microsoft.com/office/drawing/2014/main" val="519914748"/>
                    </a:ext>
                  </a:extLst>
                </a:gridCol>
                <a:gridCol w="2199791">
                  <a:extLst>
                    <a:ext uri="{9D8B030D-6E8A-4147-A177-3AD203B41FA5}">
                      <a16:colId xmlns:a16="http://schemas.microsoft.com/office/drawing/2014/main" val="1580439228"/>
                    </a:ext>
                  </a:extLst>
                </a:gridCol>
                <a:gridCol w="5658068">
                  <a:extLst>
                    <a:ext uri="{9D8B030D-6E8A-4147-A177-3AD203B41FA5}">
                      <a16:colId xmlns:a16="http://schemas.microsoft.com/office/drawing/2014/main" val="3768932270"/>
                    </a:ext>
                  </a:extLst>
                </a:gridCol>
                <a:gridCol w="1845875">
                  <a:extLst>
                    <a:ext uri="{9D8B030D-6E8A-4147-A177-3AD203B41FA5}">
                      <a16:colId xmlns:a16="http://schemas.microsoft.com/office/drawing/2014/main" val="3767925434"/>
                    </a:ext>
                  </a:extLst>
                </a:gridCol>
                <a:gridCol w="1093084">
                  <a:extLst>
                    <a:ext uri="{9D8B030D-6E8A-4147-A177-3AD203B41FA5}">
                      <a16:colId xmlns:a16="http://schemas.microsoft.com/office/drawing/2014/main" val="802230218"/>
                    </a:ext>
                  </a:extLst>
                </a:gridCol>
              </a:tblGrid>
              <a:tr h="559062">
                <a:tc>
                  <a:txBody>
                    <a:bodyPr/>
                    <a:lstStyle/>
                    <a:p>
                      <a:pPr algn="ctr"/>
                      <a:r>
                        <a:rPr lang="en-US" sz="1600" dirty="0"/>
                        <a:t>S. No.</a:t>
                      </a:r>
                      <a:endParaRPr lang="en-IN" sz="1600" dirty="0"/>
                    </a:p>
                  </a:txBody>
                  <a:tcPr/>
                </a:tc>
                <a:tc>
                  <a:txBody>
                    <a:bodyPr/>
                    <a:lstStyle/>
                    <a:p>
                      <a:pPr algn="ctr"/>
                      <a:r>
                        <a:rPr lang="en-US" sz="1600" dirty="0"/>
                        <a:t>Phases</a:t>
                      </a:r>
                      <a:endParaRPr lang="en-IN" sz="1600" dirty="0"/>
                    </a:p>
                  </a:txBody>
                  <a:tcPr/>
                </a:tc>
                <a:tc>
                  <a:txBody>
                    <a:bodyPr/>
                    <a:lstStyle/>
                    <a:p>
                      <a:pPr algn="ctr"/>
                      <a:r>
                        <a:rPr lang="en-US" sz="1600" dirty="0"/>
                        <a:t>Work to be done</a:t>
                      </a:r>
                      <a:endParaRPr lang="en-IN" sz="1600" dirty="0"/>
                    </a:p>
                  </a:txBody>
                  <a:tcPr/>
                </a:tc>
                <a:tc>
                  <a:txBody>
                    <a:bodyPr/>
                    <a:lstStyle/>
                    <a:p>
                      <a:pPr algn="ctr"/>
                      <a:r>
                        <a:rPr lang="en-US" sz="1600" dirty="0"/>
                        <a:t>Start – End date</a:t>
                      </a:r>
                    </a:p>
                    <a:p>
                      <a:pPr algn="ctr"/>
                      <a:r>
                        <a:rPr lang="en-US" sz="1600" dirty="0"/>
                        <a:t>(3-4hrs/day)</a:t>
                      </a:r>
                      <a:endParaRPr lang="en-IN" sz="1600" dirty="0"/>
                    </a:p>
                  </a:txBody>
                  <a:tcPr/>
                </a:tc>
                <a:tc>
                  <a:txBody>
                    <a:bodyPr/>
                    <a:lstStyle/>
                    <a:p>
                      <a:pPr algn="ctr"/>
                      <a:r>
                        <a:rPr lang="en-US" sz="1600" dirty="0"/>
                        <a:t>Status</a:t>
                      </a:r>
                      <a:endParaRPr lang="en-IN" sz="1600" dirty="0"/>
                    </a:p>
                  </a:txBody>
                  <a:tcPr/>
                </a:tc>
                <a:extLst>
                  <a:ext uri="{0D108BD9-81ED-4DB2-BD59-A6C34878D82A}">
                    <a16:rowId xmlns:a16="http://schemas.microsoft.com/office/drawing/2014/main" val="3269399551"/>
                  </a:ext>
                </a:extLst>
              </a:tr>
              <a:tr h="712891">
                <a:tc>
                  <a:txBody>
                    <a:bodyPr/>
                    <a:lstStyle/>
                    <a:p>
                      <a:pPr algn="ctr"/>
                      <a:r>
                        <a:rPr lang="en-US" sz="1400" dirty="0"/>
                        <a:t>1.</a:t>
                      </a:r>
                      <a:endParaRPr lang="en-IN" sz="1400" dirty="0"/>
                    </a:p>
                  </a:txBody>
                  <a:tcPr/>
                </a:tc>
                <a:tc>
                  <a:txBody>
                    <a:bodyPr/>
                    <a:lstStyle/>
                    <a:p>
                      <a:pPr algn="l"/>
                      <a:r>
                        <a:rPr lang="en-IN" sz="1400" dirty="0"/>
                        <a:t>Architect the AI-Agent Core</a:t>
                      </a:r>
                    </a:p>
                  </a:txBody>
                  <a:tcPr/>
                </a:tc>
                <a:tc>
                  <a:txBody>
                    <a:bodyPr/>
                    <a:lstStyle/>
                    <a:p>
                      <a:pPr algn="l"/>
                      <a:r>
                        <a:rPr lang="en-US" sz="1400" dirty="0"/>
                        <a:t>Define the project structure and select an agentic orchestration library (e.g., Microsoft </a:t>
                      </a:r>
                      <a:r>
                        <a:rPr lang="en-US" sz="1400" dirty="0" err="1"/>
                        <a:t>AutoGen</a:t>
                      </a:r>
                      <a:r>
                        <a:rPr lang="en-US" sz="1400" dirty="0"/>
                        <a:t>) to manage the lifecycle, message passing, and group chat dynamics between different AI Agents.</a:t>
                      </a:r>
                      <a:endParaRPr lang="en-IN" sz="1400" dirty="0"/>
                    </a:p>
                  </a:txBody>
                  <a:tcPr/>
                </a:tc>
                <a:tc>
                  <a:txBody>
                    <a:bodyPr/>
                    <a:lstStyle/>
                    <a:p>
                      <a:r>
                        <a:rPr lang="en-US" sz="1400" dirty="0"/>
                        <a:t>07 – 08 April 2026</a:t>
                      </a:r>
                      <a:endParaRPr lang="en-IN" sz="1400" dirty="0"/>
                    </a:p>
                  </a:txBody>
                  <a:tcPr/>
                </a:tc>
                <a:tc>
                  <a:txBody>
                    <a:bodyPr/>
                    <a:lstStyle/>
                    <a:p>
                      <a:endParaRPr lang="en-IN" sz="1400" dirty="0"/>
                    </a:p>
                  </a:txBody>
                  <a:tcPr/>
                </a:tc>
                <a:extLst>
                  <a:ext uri="{0D108BD9-81ED-4DB2-BD59-A6C34878D82A}">
                    <a16:rowId xmlns:a16="http://schemas.microsoft.com/office/drawing/2014/main" val="1561870270"/>
                  </a:ext>
                </a:extLst>
              </a:tr>
              <a:tr h="920818">
                <a:tc>
                  <a:txBody>
                    <a:bodyPr/>
                    <a:lstStyle/>
                    <a:p>
                      <a:pPr algn="ctr"/>
                      <a:r>
                        <a:rPr lang="en-US" sz="1400" dirty="0"/>
                        <a:t>2.</a:t>
                      </a:r>
                      <a:endParaRPr lang="en-IN" sz="1400" dirty="0"/>
                    </a:p>
                  </a:txBody>
                  <a:tcPr/>
                </a:tc>
                <a:tc>
                  <a:txBody>
                    <a:bodyPr/>
                    <a:lstStyle/>
                    <a:p>
                      <a:pPr algn="l"/>
                      <a:r>
                        <a:rPr lang="en-US" sz="1400" dirty="0"/>
                        <a:t>Implement the MCP Tool Workbench</a:t>
                      </a:r>
                      <a:endParaRPr lang="en-IN" sz="1400" dirty="0"/>
                    </a:p>
                  </a:txBody>
                  <a:tcPr/>
                </a:tc>
                <a:tc>
                  <a:txBody>
                    <a:bodyPr/>
                    <a:lstStyle/>
                    <a:p>
                      <a:pPr algn="l"/>
                      <a:r>
                        <a:rPr lang="en-US" sz="1400" dirty="0"/>
                        <a:t>Build a modular configuration layer to integrate Model Context Protocol (MCP) servers. This allows agents to interact with the real world through standardized tools for browser automation (Playwright), databases (SQL), and enterprise APIs (REST).</a:t>
                      </a:r>
                      <a:endParaRPr lang="en-IN" sz="1400" dirty="0"/>
                    </a:p>
                  </a:txBody>
                  <a:tcPr/>
                </a:tc>
                <a:tc>
                  <a:txBody>
                    <a:bodyPr/>
                    <a:lstStyle/>
                    <a:p>
                      <a:r>
                        <a:rPr lang="en-US" sz="1400" dirty="0"/>
                        <a:t>13 – 15 April 2026</a:t>
                      </a:r>
                      <a:endParaRPr lang="en-IN" sz="1400" dirty="0"/>
                    </a:p>
                  </a:txBody>
                  <a:tcPr/>
                </a:tc>
                <a:tc>
                  <a:txBody>
                    <a:bodyPr/>
                    <a:lstStyle/>
                    <a:p>
                      <a:endParaRPr lang="en-IN" sz="1400"/>
                    </a:p>
                  </a:txBody>
                  <a:tcPr/>
                </a:tc>
                <a:extLst>
                  <a:ext uri="{0D108BD9-81ED-4DB2-BD59-A6C34878D82A}">
                    <a16:rowId xmlns:a16="http://schemas.microsoft.com/office/drawing/2014/main" val="4043470880"/>
                  </a:ext>
                </a:extLst>
              </a:tr>
              <a:tr h="920818">
                <a:tc>
                  <a:txBody>
                    <a:bodyPr/>
                    <a:lstStyle/>
                    <a:p>
                      <a:pPr algn="ctr"/>
                      <a:r>
                        <a:rPr lang="en-US" sz="1400" dirty="0"/>
                        <a:t>3.</a:t>
                      </a:r>
                      <a:endParaRPr lang="en-IN" sz="1400" dirty="0"/>
                    </a:p>
                  </a:txBody>
                  <a:tcPr/>
                </a:tc>
                <a:tc>
                  <a:txBody>
                    <a:bodyPr/>
                    <a:lstStyle/>
                    <a:p>
                      <a:pPr algn="l"/>
                      <a:r>
                        <a:rPr lang="en-US" sz="1400" dirty="0"/>
                        <a:t>Develop a Specialized Agent Factory</a:t>
                      </a:r>
                      <a:endParaRPr lang="en-IN" sz="1400" dirty="0"/>
                    </a:p>
                  </a:txBody>
                  <a:tcPr/>
                </a:tc>
                <a:tc>
                  <a:txBody>
                    <a:bodyPr/>
                    <a:lstStyle/>
                    <a:p>
                      <a:pPr algn="l"/>
                      <a:r>
                        <a:rPr lang="en-US" sz="1400" dirty="0"/>
                        <a:t>Create a Factory Pattern to instantiate agents with predefined roles. Each agent should be "born" with a specific system message and a subset of tools relevant to its task (e.g., a </a:t>
                      </a:r>
                      <a:r>
                        <a:rPr lang="en-US" sz="1400" dirty="0" err="1"/>
                        <a:t>DatabaseAgent</a:t>
                      </a:r>
                      <a:r>
                        <a:rPr lang="en-US" sz="1400" dirty="0"/>
                        <a:t> gets SQL tools, while an </a:t>
                      </a:r>
                      <a:r>
                        <a:rPr lang="en-US" sz="1400" dirty="0" err="1"/>
                        <a:t>AutomationAgent</a:t>
                      </a:r>
                      <a:r>
                        <a:rPr lang="en-US" sz="1400" dirty="0"/>
                        <a:t> gets browser tools).</a:t>
                      </a:r>
                      <a:endParaRPr lang="en-IN" sz="1400" dirty="0"/>
                    </a:p>
                  </a:txBody>
                  <a:tcPr/>
                </a:tc>
                <a:tc>
                  <a:txBody>
                    <a:bodyPr/>
                    <a:lstStyle/>
                    <a:p>
                      <a:r>
                        <a:rPr lang="en-US" sz="1400" dirty="0"/>
                        <a:t>15 – 17 April 2026</a:t>
                      </a:r>
                      <a:endParaRPr lang="en-IN" sz="1400" dirty="0"/>
                    </a:p>
                  </a:txBody>
                  <a:tcPr/>
                </a:tc>
                <a:tc>
                  <a:txBody>
                    <a:bodyPr/>
                    <a:lstStyle/>
                    <a:p>
                      <a:endParaRPr lang="en-IN" sz="1400"/>
                    </a:p>
                  </a:txBody>
                  <a:tcPr/>
                </a:tc>
                <a:extLst>
                  <a:ext uri="{0D108BD9-81ED-4DB2-BD59-A6C34878D82A}">
                    <a16:rowId xmlns:a16="http://schemas.microsoft.com/office/drawing/2014/main" val="3721587006"/>
                  </a:ext>
                </a:extLst>
              </a:tr>
              <a:tr h="920818">
                <a:tc>
                  <a:txBody>
                    <a:bodyPr/>
                    <a:lstStyle/>
                    <a:p>
                      <a:pPr algn="ctr"/>
                      <a:r>
                        <a:rPr lang="en-US" sz="1400" dirty="0"/>
                        <a:t>4.</a:t>
                      </a:r>
                      <a:endParaRPr lang="en-IN" sz="1400" dirty="0"/>
                    </a:p>
                  </a:txBody>
                  <a:tcPr/>
                </a:tc>
                <a:tc>
                  <a:txBody>
                    <a:bodyPr/>
                    <a:lstStyle/>
                    <a:p>
                      <a:pPr algn="l"/>
                      <a:r>
                        <a:rPr lang="en-US" sz="1400" dirty="0"/>
                        <a:t>Build a Centralized Configuration &amp; Data Layer</a:t>
                      </a:r>
                      <a:endParaRPr lang="en-IN" sz="1400" dirty="0"/>
                    </a:p>
                  </a:txBody>
                  <a:tcPr/>
                </a:tc>
                <a:tc>
                  <a:txBody>
                    <a:bodyPr/>
                    <a:lstStyle/>
                    <a:p>
                      <a:pPr algn="l"/>
                      <a:r>
                        <a:rPr lang="en-US" sz="1400" dirty="0"/>
                        <a:t>Engineer a Config Manager to handle environment-specific variables, credentials, and file paths. This ensures the framework can switch between environments (Dev, QA, Prod) by simply updating a .properties or .env file without changing code.</a:t>
                      </a:r>
                      <a:endParaRPr lang="en-IN" sz="1400" dirty="0"/>
                    </a:p>
                  </a:txBody>
                  <a:tcPr/>
                </a:tc>
                <a:tc>
                  <a:txBody>
                    <a:bodyPr/>
                    <a:lstStyle/>
                    <a:p>
                      <a:r>
                        <a:rPr lang="en-US" sz="1400" dirty="0"/>
                        <a:t>19 – 20 April 2026</a:t>
                      </a:r>
                      <a:endParaRPr lang="en-IN" sz="1400" dirty="0"/>
                    </a:p>
                  </a:txBody>
                  <a:tcPr/>
                </a:tc>
                <a:tc>
                  <a:txBody>
                    <a:bodyPr/>
                    <a:lstStyle/>
                    <a:p>
                      <a:endParaRPr lang="en-IN" sz="1400"/>
                    </a:p>
                  </a:txBody>
                  <a:tcPr/>
                </a:tc>
                <a:extLst>
                  <a:ext uri="{0D108BD9-81ED-4DB2-BD59-A6C34878D82A}">
                    <a16:rowId xmlns:a16="http://schemas.microsoft.com/office/drawing/2014/main" val="2888293749"/>
                  </a:ext>
                </a:extLst>
              </a:tr>
              <a:tr h="920818">
                <a:tc>
                  <a:txBody>
                    <a:bodyPr/>
                    <a:lstStyle/>
                    <a:p>
                      <a:pPr algn="ctr"/>
                      <a:r>
                        <a:rPr lang="en-US" sz="1400" dirty="0"/>
                        <a:t>5.</a:t>
                      </a:r>
                      <a:endParaRPr lang="en-IN" sz="1400" dirty="0"/>
                    </a:p>
                  </a:txBody>
                  <a:tcPr/>
                </a:tc>
                <a:tc>
                  <a:txBody>
                    <a:bodyPr/>
                    <a:lstStyle/>
                    <a:p>
                      <a:pPr algn="l"/>
                      <a:r>
                        <a:rPr lang="en-US" sz="1400" dirty="0"/>
                        <a:t>Create an Automated Reporting &amp; Screenshot Engine</a:t>
                      </a:r>
                      <a:endParaRPr lang="en-IN" sz="1400" dirty="0"/>
                    </a:p>
                  </a:txBody>
                  <a:tcPr/>
                </a:tc>
                <a:tc>
                  <a:txBody>
                    <a:bodyPr/>
                    <a:lstStyle/>
                    <a:p>
                      <a:pPr algn="l"/>
                      <a:r>
                        <a:rPr lang="en-US" sz="1400" dirty="0"/>
                        <a:t>Develop a custom Reporter Library that captures the raw LLM conversation, determines the PASS/FAIL status based on termination tokens, and generates visual HTML reports with embedded screenshots for auditability.</a:t>
                      </a:r>
                      <a:endParaRPr lang="en-IN" sz="1400" dirty="0"/>
                    </a:p>
                  </a:txBody>
                  <a:tcPr/>
                </a:tc>
                <a:tc>
                  <a:txBody>
                    <a:bodyPr/>
                    <a:lstStyle/>
                    <a:p>
                      <a:r>
                        <a:rPr lang="en-US" sz="1400" dirty="0"/>
                        <a:t>20 – 21 April 2026</a:t>
                      </a:r>
                      <a:endParaRPr lang="en-IN" sz="1400" dirty="0"/>
                    </a:p>
                  </a:txBody>
                  <a:tcPr/>
                </a:tc>
                <a:tc>
                  <a:txBody>
                    <a:bodyPr/>
                    <a:lstStyle/>
                    <a:p>
                      <a:endParaRPr lang="en-IN" sz="1400"/>
                    </a:p>
                  </a:txBody>
                  <a:tcPr/>
                </a:tc>
                <a:extLst>
                  <a:ext uri="{0D108BD9-81ED-4DB2-BD59-A6C34878D82A}">
                    <a16:rowId xmlns:a16="http://schemas.microsoft.com/office/drawing/2014/main" val="3750369151"/>
                  </a:ext>
                </a:extLst>
              </a:tr>
              <a:tr h="920818">
                <a:tc>
                  <a:txBody>
                    <a:bodyPr/>
                    <a:lstStyle/>
                    <a:p>
                      <a:pPr algn="ctr"/>
                      <a:r>
                        <a:rPr lang="en-US" sz="1400" dirty="0"/>
                        <a:t>6.</a:t>
                      </a:r>
                      <a:endParaRPr lang="en-IN" sz="1400" dirty="0"/>
                    </a:p>
                  </a:txBody>
                  <a:tcPr/>
                </a:tc>
                <a:tc>
                  <a:txBody>
                    <a:bodyPr/>
                    <a:lstStyle/>
                    <a:p>
                      <a:pPr algn="l"/>
                      <a:r>
                        <a:rPr lang="en-US" sz="1400" dirty="0"/>
                        <a:t>Engineer a Scenario Discovery &amp; Suite Runner</a:t>
                      </a:r>
                      <a:endParaRPr lang="en-IN" sz="1400" dirty="0"/>
                    </a:p>
                  </a:txBody>
                  <a:tcPr/>
                </a:tc>
                <a:tc>
                  <a:txBody>
                    <a:bodyPr/>
                    <a:lstStyle/>
                    <a:p>
                      <a:pPr algn="l"/>
                      <a:r>
                        <a:rPr lang="en-US" sz="1400" dirty="0"/>
                        <a:t>Build a central Execution Engine (like run_suite.py) that uses dynamic file discovery to find and run test scenarios. It should handle sequential execution, error isolation (one test failing doesn't stop the suite), and aggregate all results into a single dashboard.</a:t>
                      </a:r>
                      <a:endParaRPr lang="en-IN" sz="1400" dirty="0"/>
                    </a:p>
                  </a:txBody>
                  <a:tcPr/>
                </a:tc>
                <a:tc>
                  <a:txBody>
                    <a:bodyPr/>
                    <a:lstStyle/>
                    <a:p>
                      <a:r>
                        <a:rPr lang="en-US" sz="1400" dirty="0"/>
                        <a:t>28 – 29 (30) April 2026</a:t>
                      </a:r>
                      <a:endParaRPr lang="en-IN" sz="1400" dirty="0"/>
                    </a:p>
                  </a:txBody>
                  <a:tcPr/>
                </a:tc>
                <a:tc>
                  <a:txBody>
                    <a:bodyPr/>
                    <a:lstStyle/>
                    <a:p>
                      <a:endParaRPr lang="en-IN" sz="1400" dirty="0"/>
                    </a:p>
                  </a:txBody>
                  <a:tcPr/>
                </a:tc>
                <a:extLst>
                  <a:ext uri="{0D108BD9-81ED-4DB2-BD59-A6C34878D82A}">
                    <a16:rowId xmlns:a16="http://schemas.microsoft.com/office/drawing/2014/main" val="1173044868"/>
                  </a:ext>
                </a:extLst>
              </a:tr>
            </a:tbl>
          </a:graphicData>
        </a:graphic>
      </p:graphicFrame>
      <p:sp>
        <p:nvSpPr>
          <p:cNvPr id="3" name="TextBox 2">
            <a:extLst>
              <a:ext uri="{FF2B5EF4-FFF2-40B4-BE49-F238E27FC236}">
                <a16:creationId xmlns:a16="http://schemas.microsoft.com/office/drawing/2014/main" id="{95AA17CB-5082-4D12-8DB0-A3461FB1FF8A}"/>
              </a:ext>
            </a:extLst>
          </p:cNvPr>
          <p:cNvSpPr txBox="1"/>
          <p:nvPr/>
        </p:nvSpPr>
        <p:spPr>
          <a:xfrm>
            <a:off x="405353" y="131975"/>
            <a:ext cx="7022969" cy="461665"/>
          </a:xfrm>
          <a:prstGeom prst="rect">
            <a:avLst/>
          </a:prstGeom>
          <a:noFill/>
        </p:spPr>
        <p:txBody>
          <a:bodyPr wrap="square" rtlCol="0">
            <a:spAutoFit/>
          </a:bodyPr>
          <a:lstStyle/>
          <a:p>
            <a:r>
              <a:rPr lang="en-US" sz="2400" b="1" dirty="0"/>
              <a:t>Framework Tool Development Work Plan</a:t>
            </a:r>
            <a:endParaRPr lang="en-IN" sz="2400" b="1" dirty="0"/>
          </a:p>
        </p:txBody>
      </p:sp>
    </p:spTree>
    <p:extLst>
      <p:ext uri="{BB962C8B-B14F-4D97-AF65-F5344CB8AC3E}">
        <p14:creationId xmlns:p14="http://schemas.microsoft.com/office/powerpoint/2010/main" val="4101626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DED2F7-2CCB-4695-B6CF-54A0F288E5D6}"/>
              </a:ext>
            </a:extLst>
          </p:cNvPr>
          <p:cNvSpPr txBox="1"/>
          <p:nvPr/>
        </p:nvSpPr>
        <p:spPr>
          <a:xfrm>
            <a:off x="1847654" y="1055802"/>
            <a:ext cx="7814820" cy="923330"/>
          </a:xfrm>
          <a:prstGeom prst="rect">
            <a:avLst/>
          </a:prstGeom>
          <a:noFill/>
        </p:spPr>
        <p:txBody>
          <a:bodyPr wrap="square" rtlCol="0">
            <a:spAutoFit/>
          </a:bodyPr>
          <a:lstStyle/>
          <a:p>
            <a:r>
              <a:rPr lang="en-US" dirty="0"/>
              <a:t>Note: I will not available for below days.</a:t>
            </a:r>
          </a:p>
          <a:p>
            <a:endParaRPr lang="en-US" dirty="0"/>
          </a:p>
          <a:p>
            <a:r>
              <a:rPr lang="en-US" dirty="0"/>
              <a:t>9 – 12 and 22 – 27 April 2026</a:t>
            </a:r>
            <a:endParaRPr lang="en-IN" dirty="0"/>
          </a:p>
        </p:txBody>
      </p:sp>
    </p:spTree>
    <p:extLst>
      <p:ext uri="{BB962C8B-B14F-4D97-AF65-F5344CB8AC3E}">
        <p14:creationId xmlns:p14="http://schemas.microsoft.com/office/powerpoint/2010/main" val="1831431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2075</TotalTime>
  <Words>698</Words>
  <Application>Microsoft Office PowerPoint</Application>
  <PresentationFormat>Widescreen</PresentationFormat>
  <Paragraphs>57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susilp</dc:creator>
  <cp:lastModifiedBy>susilp</cp:lastModifiedBy>
  <cp:revision>168</cp:revision>
  <dcterms:created xsi:type="dcterms:W3CDTF">2026-03-29T09:39:45Z</dcterms:created>
  <dcterms:modified xsi:type="dcterms:W3CDTF">2026-04-06T07:01:42Z</dcterms:modified>
</cp:coreProperties>
</file>